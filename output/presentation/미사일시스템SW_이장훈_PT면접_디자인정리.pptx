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31cd27b63441d1" /><Relationship Type="http://schemas.openxmlformats.org/officeDocument/2006/relationships/extended-properties" Target="/docProps/app.xml" Id="R51aef9dcca9a47e8" /><Relationship Type="http://schemas.openxmlformats.org/officeDocument/2006/relationships/officeDocument" Target="/ppt/presentation.xml" Id="Rd28b0b7285fd42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203aaf143d4663"/>
  </p:sldMasterIdLst>
  <p:notesMasterIdLst>
    <p:notesMasterId xmlns:r="http://schemas.openxmlformats.org/officeDocument/2006/relationships" r:id="R4206b720e2d542d2"/>
  </p:notesMasterIdLst>
  <p:sldIdLst>
    <p:sldId xmlns:r="http://schemas.openxmlformats.org/officeDocument/2006/relationships" id="256" r:id="Ra90cdcd867164135"/>
    <p:sldId xmlns:r="http://schemas.openxmlformats.org/officeDocument/2006/relationships" id="257" r:id="Re7f113427f004851"/>
    <p:sldId xmlns:r="http://schemas.openxmlformats.org/officeDocument/2006/relationships" id="258" r:id="Rd97a099bef144b6b"/>
    <p:sldId xmlns:r="http://schemas.openxmlformats.org/officeDocument/2006/relationships" id="259" r:id="Rf4325dc6984143e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c6d801d2444643" /><Relationship Type="http://schemas.openxmlformats.org/officeDocument/2006/relationships/slideMaster" Target="/ppt/slideMasters/slideMaster1.xml" Id="Rca203aaf143d4663" /><Relationship Type="http://schemas.openxmlformats.org/officeDocument/2006/relationships/notesMaster" Target="/ppt/notesMasters/notesMaster1.xml" Id="R4206b720e2d542d2" /><Relationship Type="http://schemas.openxmlformats.org/officeDocument/2006/relationships/presProps" Target="/ppt/presProps.xml" Id="R68e1409b5b9c4c6f" /><Relationship Type="http://schemas.openxmlformats.org/officeDocument/2006/relationships/tableStyles" Target="/ppt/tableStyles.xml" Id="Rcd2143c501ae4a2e" /><Relationship Type="http://schemas.openxmlformats.org/officeDocument/2006/relationships/slide" Target="/ppt/slides/slide1.xml" Id="Ra90cdcd867164135" /><Relationship Type="http://schemas.openxmlformats.org/officeDocument/2006/relationships/slide" Target="/ppt/slides/slide2.xml" Id="Re7f113427f004851" /><Relationship Type="http://schemas.openxmlformats.org/officeDocument/2006/relationships/slide" Target="/ppt/slides/slide3.xml" Id="Rd97a099bef144b6b" /><Relationship Type="http://schemas.openxmlformats.org/officeDocument/2006/relationships/slide" Target="/ppt/slides/slide4.xml" Id="Rf4325dc6984143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96d82ef43240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18134f973b424a" /><Relationship Type="http://schemas.openxmlformats.org/officeDocument/2006/relationships/notesMaster" Target="/ppt/notesMasters/notesMaster1.xml" Id="R9d6fa114d2114a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47b9fc8a2f4131" /><Relationship Type="http://schemas.openxmlformats.org/officeDocument/2006/relationships/notesMaster" Target="/ppt/notesMasters/notesMaster1.xml" Id="Rfcce53ea1fe04e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12e88abc6d447d" /><Relationship Type="http://schemas.openxmlformats.org/officeDocument/2006/relationships/notesMaster" Target="/ppt/notesMasters/notesMaster1.xml" Id="Ra0022a62b6ae4f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c9040ee30e403a" /><Relationship Type="http://schemas.openxmlformats.org/officeDocument/2006/relationships/notesMaster" Target="/ppt/notesMasters/notesMaster1.xml" Id="Rb9cd98683c624a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b205925aa4b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60037cb91f48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dd0850c914a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188f9748c46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c2af302d342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3dde8458840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621D23-4C50-4E9B-93BE-4FF4E5C4FD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34F16B-0F2C-485F-A971-9B6E002300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F97AA2-F98D-4C83-BB12-3588DE836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265983-F296-4238-B9F9-1E9F1579BD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035D28-9A90-4269-8BF4-1949EDE5A2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A62752-39B9-422E-BE3A-3456CA746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23FFF2-0A25-431B-93DC-BE24877F4D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B63BA7B-53FD-4F2F-8302-618B71569D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4DD7E6-B49B-4357-B2A6-F8ED624AB2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9CA71D-17A9-4E2E-A6F5-065B658EE4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1bcb1398f447c0" /><Relationship Type="http://schemas.openxmlformats.org/officeDocument/2006/relationships/slideLayout" Target="/ppt/slideLayouts/slideLayout1.xml" Id="Rcac3bb9d233a4126" /><Relationship Type="http://schemas.openxmlformats.org/officeDocument/2006/relationships/slideLayout" Target="/ppt/slideLayouts/slideLayout2.xml" Id="Rccd0f343cfe342b1" /><Relationship Type="http://schemas.openxmlformats.org/officeDocument/2006/relationships/slideLayout" Target="/ppt/slideLayouts/slideLayout3.xml" Id="Ra4a762150f9f4221" /><Relationship Type="http://schemas.openxmlformats.org/officeDocument/2006/relationships/slideLayout" Target="/ppt/slideLayouts/slideLayout4.xml" Id="Rbb40202131d947f4" /><Relationship Type="http://schemas.openxmlformats.org/officeDocument/2006/relationships/slideLayout" Target="/ppt/slideLayouts/slideLayout5.xml" Id="Rc4f673c840cd4483" /><Relationship Type="http://schemas.openxmlformats.org/officeDocument/2006/relationships/slideLayout" Target="/ppt/slideLayouts/slideLayout6.xml" Id="R6934923627da42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c3bb9d233a4126"/>
    <p:sldLayoutId xmlns:r="http://schemas.openxmlformats.org/officeDocument/2006/relationships" id="2147483650" r:id="Rccd0f343cfe342b1"/>
    <p:sldLayoutId xmlns:r="http://schemas.openxmlformats.org/officeDocument/2006/relationships" id="2147483651" r:id="Ra4a762150f9f4221"/>
    <p:sldLayoutId xmlns:r="http://schemas.openxmlformats.org/officeDocument/2006/relationships" id="2147483652" r:id="Rbb40202131d947f4"/>
    <p:sldLayoutId xmlns:r="http://schemas.openxmlformats.org/officeDocument/2006/relationships" id="2147483653" r:id="Rc4f673c840cd4483"/>
    <p:sldLayoutId xmlns:r="http://schemas.openxmlformats.org/officeDocument/2006/relationships" id="2147483654" r:id="R6934923627da42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568ed3225846c2" /><Relationship Type="http://schemas.openxmlformats.org/officeDocument/2006/relationships/image" Target="/ppt/media/image.png" Id="R228efd459fd948c2" /><Relationship Type="http://schemas.openxmlformats.org/officeDocument/2006/relationships/image" Target="/ppt/media/image2.png" Id="R8aa5c2068c404e91" /><Relationship Type="http://schemas.openxmlformats.org/officeDocument/2006/relationships/notesSlide" Target="/ppt/notesSlides/notesSlide1.xml" Id="Rfdc0ece0477f46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bb51ab04d4ffa" /><Relationship Type="http://schemas.openxmlformats.org/officeDocument/2006/relationships/image" Target="/ppt/media/image3.png" Id="R75f32ca9205c4dcd" /><Relationship Type="http://schemas.openxmlformats.org/officeDocument/2006/relationships/image" Target="/ppt/media/image4.png" Id="Rd5044880ae2b4d22" /><Relationship Type="http://schemas.openxmlformats.org/officeDocument/2006/relationships/image" Target="/ppt/media/image5.png" Id="R241155d51ea3454c" /><Relationship Type="http://schemas.openxmlformats.org/officeDocument/2006/relationships/image" Target="/ppt/media/image6.png" Id="Re106880611394f2f" /><Relationship Type="http://schemas.openxmlformats.org/officeDocument/2006/relationships/image" Target="/ppt/media/image7.png" Id="R9a8320d9f6874d8f" /><Relationship Type="http://schemas.openxmlformats.org/officeDocument/2006/relationships/image" Target="/ppt/media/image8.png" Id="R19f1c7599d054c58" /><Relationship Type="http://schemas.openxmlformats.org/officeDocument/2006/relationships/image" Target="/ppt/media/image9.png" Id="R46dec05960fb4ef2" /><Relationship Type="http://schemas.openxmlformats.org/officeDocument/2006/relationships/notesSlide" Target="/ppt/notesSlides/notesSlide2.xml" Id="R5698ad05226742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0a998127e491f" /><Relationship Type="http://schemas.openxmlformats.org/officeDocument/2006/relationships/image" Target="/ppt/media/image10.png" Id="R946415519f834cbb" /><Relationship Type="http://schemas.openxmlformats.org/officeDocument/2006/relationships/image" Target="/ppt/media/image11.png" Id="R0d89dd1f282a493b" /><Relationship Type="http://schemas.openxmlformats.org/officeDocument/2006/relationships/image" Target="/ppt/media/image12.png" Id="R4b075b0bcd304472" /><Relationship Type="http://schemas.openxmlformats.org/officeDocument/2006/relationships/image" Target="/ppt/media/image13.png" Id="Raaf6b62fe4a44c8f" /><Relationship Type="http://schemas.openxmlformats.org/officeDocument/2006/relationships/notesSlide" Target="/ppt/notesSlides/notesSlide3.xml" Id="R603046a18cbf4c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aa8eddc7b4d11" /><Relationship Type="http://schemas.openxmlformats.org/officeDocument/2006/relationships/image" Target="/ppt/media/image14.png" Id="R4a8027a637984090" /><Relationship Type="http://schemas.openxmlformats.org/officeDocument/2006/relationships/image" Target="/ppt/media/image15.png" Id="R23637bc56ec64cf3" /><Relationship Type="http://schemas.openxmlformats.org/officeDocument/2006/relationships/image" Target="/ppt/media/image16.png" Id="R6c81e41304124951" /><Relationship Type="http://schemas.openxmlformats.org/officeDocument/2006/relationships/image" Target="/ppt/media/image17.png" Id="R8041d0202f844691" /><Relationship Type="http://schemas.openxmlformats.org/officeDocument/2006/relationships/image" Target="/ppt/media/image18.png" Id="R00b24bde7920479f" /><Relationship Type="http://schemas.openxmlformats.org/officeDocument/2006/relationships/image" Target="/ppt/media/image19.png" Id="R05cb5e7415ba4894" /><Relationship Type="http://schemas.openxmlformats.org/officeDocument/2006/relationships/image" Target="/ppt/media/image20.png" Id="R3cea66d6aa794fad" /><Relationship Type="http://schemas.openxmlformats.org/officeDocument/2006/relationships/notesSlide" Target="/ppt/notesSlides/notesSlide4.xml" Id="R4be17447e0f34e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-1">
            <a:extLst xmlns:a="http://schemas.openxmlformats.org/drawingml/2006/main">
              <a:ext uri="{FF2B5EF4-FFF2-40B4-BE49-F238E27FC236}">
                <a16:creationId xmlns:a16="http://schemas.microsoft.com/office/drawing/2014/main" id="{9CA82506-FB14-45F6-BD94-F6D560AF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5F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FFA04-E3CA-437F-988A-EE7F83C8B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efd459fd948c2"/>
          <a:stretch xmlns:a="http://schemas.openxmlformats.org/drawingml/2006/main"/>
        </p:blipFill>
        <p:spPr>
          <a:xfrm xmlns:a="http://schemas.openxmlformats.org/drawingml/2006/main">
            <a:off x="12001500" y="228711"/>
            <a:ext cx="2762250" cy="256953"/>
          </a:xfrm>
          <a:prstGeom xmlns:a="http://schemas.openxmlformats.org/drawingml/2006/main" prst="rect">
            <a:avLst/>
          </a:prstGeom>
        </p:spPr>
      </p:pic>
      <p:sp>
        <p:nvSpPr>
          <p:cNvPr id="3" name="surface-2">
            <a:extLst xmlns:a="http://schemas.openxmlformats.org/drawingml/2006/main">
              <a:ext uri="{FF2B5EF4-FFF2-40B4-BE49-F238E27FC236}">
                <a16:creationId xmlns:a16="http://schemas.microsoft.com/office/drawing/2014/main" id="{4263C8E3-4C3E-45C0-B4D4-308704E1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047750"/>
            <a:ext cx="9525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F152075-47D0-4BBA-94CC-40798AFB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477375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미사일시스템 SW 직무 자기소개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C4A879A-6F7C-4A58-9E7D-2407ED97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9667875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2026년 하반기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4C63B71-FA4A-4569-8015-63AA454C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1315"/>
            <a:ext cx="9667875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487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신입 / 전문연구원 채용 면접</a:t>
            </a:r>
          </a:p>
        </p:txBody>
      </p:sp>
      <p:sp>
        <p:nvSpPr>
          <p:cNvPr id="7" name="surface-4">
            <a:extLst xmlns:a="http://schemas.openxmlformats.org/drawingml/2006/main">
              <a:ext uri="{FF2B5EF4-FFF2-40B4-BE49-F238E27FC236}">
                <a16:creationId xmlns:a16="http://schemas.microsoft.com/office/drawing/2014/main" id="{538B2463-6C54-4A60-93DD-BD34F6B9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5F"/>
          </a:solidFill>
          <a:ln xmlns:a="http://schemas.openxmlformats.org/drawingml/2006/main" w="0">
            <a:noFill/>
          </a:ln>
        </p:spPr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781148FD-7459-4BE1-A4E1-48F25C97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715000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3 KEYWORDS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C61E4936-2B46-400B-B006-14C508AC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24675"/>
            <a:ext cx="9048750" cy="732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6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6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6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6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6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6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6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6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6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설계 검증 완수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70E40-9B5A-4363-B65D-3D9B7857ED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5c2068c404e91"/>
          <a:stretch xmlns:a="http://schemas.openxmlformats.org/drawingml/2006/main"/>
        </p:blipFill>
        <p:spPr>
          <a:xfrm xmlns:a="http://schemas.openxmlformats.org/drawingml/2006/main">
            <a:off x="11696700" y="1163546"/>
            <a:ext cx="2476500" cy="3111683"/>
          </a:xfrm>
          <a:prstGeom xmlns:a="http://schemas.openxmlformats.org/drawingml/2006/main" prst="rect">
            <a:avLst/>
          </a:prstGeom>
        </p:spPr>
      </p:pic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AF63CDB9-4562-4ACB-9ADE-93A11B1D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86275"/>
            <a:ext cx="3429000" cy="448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이장훈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BEAF20A0-7402-4440-88E6-2AB2B637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229225"/>
            <a:ext cx="3429000" cy="22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주요 이력</a:t>
            </a:r>
          </a:p>
        </p:txBody>
      </p:sp>
      <p:sp>
        <p:nvSpPr>
          <p:cNvPr id="13" name="surface-9">
            <a:extLst xmlns:a="http://schemas.openxmlformats.org/drawingml/2006/main">
              <a:ext uri="{FF2B5EF4-FFF2-40B4-BE49-F238E27FC236}">
                <a16:creationId xmlns:a16="http://schemas.microsoft.com/office/drawing/2014/main" id="{406583B4-3E91-4D9D-95D9-879744CA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514975"/>
            <a:ext cx="338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C9B73ED3-0D15-4FC8-BFF0-89D2E620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695950"/>
            <a:ext cx="504825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2022</a:t>
            </a:r>
          </a:p>
        </p:txBody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80A28682-40C7-4EF3-8FBA-BE3C513E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95950"/>
            <a:ext cx="2857500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삼성전자 DS 장기현장실습</a:t>
            </a:r>
          </a:p>
        </p:txBody>
      </p: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76ED1DE6-E48D-4407-8D24-408C06CF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010275"/>
            <a:ext cx="504825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2022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0A5C2D41-E8F4-49F8-B8E5-47796B58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10275"/>
            <a:ext cx="2857500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바이오메카트로닉스학과 졸업논문 은상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1EC2912A-20BA-437A-80E7-322D9B40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24600"/>
            <a:ext cx="504825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2023</a:t>
            </a:r>
          </a:p>
        </p:txBody>
      </p:sp>
      <p:sp>
        <p:nvSpPr>
          <p:cNvPr id="19" name="text-15">
            <a:extLst xmlns:a="http://schemas.openxmlformats.org/drawingml/2006/main">
              <a:ext uri="{FF2B5EF4-FFF2-40B4-BE49-F238E27FC236}">
                <a16:creationId xmlns:a16="http://schemas.microsoft.com/office/drawing/2014/main" id="{4AC3F942-F885-4A0E-B6B0-10CEFBD0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324600"/>
            <a:ext cx="2857500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소프트웨어학과 졸업작품 은상</a:t>
            </a:r>
          </a:p>
        </p:txBody>
      </p:sp>
      <p:sp>
        <p:nvSpPr>
          <p:cNvPr id="20" name="text-16">
            <a:extLst xmlns:a="http://schemas.openxmlformats.org/drawingml/2006/main">
              <a:ext uri="{FF2B5EF4-FFF2-40B4-BE49-F238E27FC236}">
                <a16:creationId xmlns:a16="http://schemas.microsoft.com/office/drawing/2014/main" id="{4ED0D3F7-83DE-48AB-A372-E750AC56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638925"/>
            <a:ext cx="504825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2025</a:t>
            </a:r>
          </a:p>
        </p:txBody>
      </p:sp>
      <p:sp>
        <p:nvSpPr>
          <p:cNvPr id="21" name="text-17">
            <a:extLst xmlns:a="http://schemas.openxmlformats.org/drawingml/2006/main">
              <a:ext uri="{FF2B5EF4-FFF2-40B4-BE49-F238E27FC236}">
                <a16:creationId xmlns:a16="http://schemas.microsoft.com/office/drawing/2014/main" id="{E5C48B9B-E8C7-4D5A-A01B-BCE0C879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638925"/>
            <a:ext cx="2857500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성균관대학교 학사 졸업</a:t>
            </a:r>
          </a:p>
        </p:txBody>
      </p:sp>
      <p:sp>
        <p:nvSpPr>
          <p:cNvPr id="22" name="text-18">
            <a:extLst xmlns:a="http://schemas.openxmlformats.org/drawingml/2006/main">
              <a:ext uri="{FF2B5EF4-FFF2-40B4-BE49-F238E27FC236}">
                <a16:creationId xmlns:a16="http://schemas.microsoft.com/office/drawing/2014/main" id="{57EA73B9-7CFF-4FFD-A507-AF46EB39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820814"/>
            <a:ext cx="2857500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바이오메카트로닉스학과 / 소프트웨어학과</a:t>
            </a:r>
          </a:p>
        </p:txBody>
      </p:sp>
      <p:sp>
        <p:nvSpPr>
          <p:cNvPr id="23" name="text-19">
            <a:extLst xmlns:a="http://schemas.openxmlformats.org/drawingml/2006/main">
              <a:ext uri="{FF2B5EF4-FFF2-40B4-BE49-F238E27FC236}">
                <a16:creationId xmlns:a16="http://schemas.microsoft.com/office/drawing/2014/main" id="{589B0C5C-9786-4B6A-B397-21D41ECF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7096125"/>
            <a:ext cx="504825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2025</a:t>
            </a:r>
          </a:p>
        </p:txBody>
      </p:sp>
      <p:sp>
        <p:nvSpPr>
          <p:cNvPr id="24" name="text-20">
            <a:extLst xmlns:a="http://schemas.openxmlformats.org/drawingml/2006/main">
              <a:ext uri="{FF2B5EF4-FFF2-40B4-BE49-F238E27FC236}">
                <a16:creationId xmlns:a16="http://schemas.microsoft.com/office/drawing/2014/main" id="{16313457-96E0-4F24-B503-C910DC8D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096125"/>
            <a:ext cx="2857500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개인사업자 등록</a:t>
            </a:r>
          </a:p>
        </p:txBody>
      </p:sp>
      <p:sp>
        <p:nvSpPr>
          <p:cNvPr id="25" name="text-21">
            <a:extLst xmlns:a="http://schemas.openxmlformats.org/drawingml/2006/main">
              <a:ext uri="{FF2B5EF4-FFF2-40B4-BE49-F238E27FC236}">
                <a16:creationId xmlns:a16="http://schemas.microsoft.com/office/drawing/2014/main" id="{BE5C346F-EB7F-421C-AB76-19AC7F1B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7410450"/>
            <a:ext cx="504825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15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26" name="text-22">
            <a:extLst xmlns:a="http://schemas.openxmlformats.org/drawingml/2006/main">
              <a:ext uri="{FF2B5EF4-FFF2-40B4-BE49-F238E27FC236}">
                <a16:creationId xmlns:a16="http://schemas.microsoft.com/office/drawing/2014/main" id="{B82A15F6-FA63-432D-AD0F-CB7D2EB6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410450"/>
            <a:ext cx="2857500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판교 글로벌게임허브센터</a:t>
            </a:r>
          </a:p>
        </p:txBody>
      </p:sp>
      <p:sp>
        <p:nvSpPr>
          <p:cNvPr id="27" name="text-23">
            <a:extLst xmlns:a="http://schemas.openxmlformats.org/drawingml/2006/main">
              <a:ext uri="{FF2B5EF4-FFF2-40B4-BE49-F238E27FC236}">
                <a16:creationId xmlns:a16="http://schemas.microsoft.com/office/drawing/2014/main" id="{E0CFD8DD-14FE-4A21-8186-B06B6724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592339"/>
            <a:ext cx="2857500" cy="181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155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게임벤처 4.0 선정</a:t>
            </a:r>
          </a:p>
        </p:txBody>
      </p:sp>
    </p:spTree>
    <p:extLst>
      <p:ext uri="{BB962C8B-B14F-4D97-AF65-F5344CB8AC3E}">
        <p14:creationId xmlns:p14="http://schemas.microsoft.com/office/powerpoint/2010/main" val="1787003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urface-24">
            <a:extLst xmlns:a="http://schemas.openxmlformats.org/drawingml/2006/main">
              <a:ext uri="{FF2B5EF4-FFF2-40B4-BE49-F238E27FC236}">
                <a16:creationId xmlns:a16="http://schemas.microsoft.com/office/drawing/2014/main" id="{AEB40DC5-018D-4CFE-8E19-B90380AF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5F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C9B54-6584-4521-8BED-B1499DA8D9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32ca9205c4dcd"/>
          <a:stretch xmlns:a="http://schemas.openxmlformats.org/drawingml/2006/main"/>
        </p:blipFill>
        <p:spPr>
          <a:xfrm xmlns:a="http://schemas.openxmlformats.org/drawingml/2006/main">
            <a:off x="12001500" y="228711"/>
            <a:ext cx="2762250" cy="256953"/>
          </a:xfrm>
          <a:prstGeom xmlns:a="http://schemas.openxmlformats.org/drawingml/2006/main" prst="rect">
            <a:avLst/>
          </a:prstGeom>
        </p:spPr>
      </p:pic>
      <p:sp>
        <p:nvSpPr>
          <p:cNvPr id="3" name="text-25">
            <a:extLst xmlns:a="http://schemas.openxmlformats.org/drawingml/2006/main">
              <a:ext uri="{FF2B5EF4-FFF2-40B4-BE49-F238E27FC236}">
                <a16:creationId xmlns:a16="http://schemas.microsoft.com/office/drawing/2014/main" id="{2625DD45-CC63-40CF-9747-FC641486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#1 이기종 제어 프로젝트</a:t>
            </a:r>
          </a:p>
        </p:txBody>
      </p:sp>
      <p:sp>
        <p:nvSpPr>
          <p:cNvPr id="4" name="surface-26">
            <a:extLst xmlns:a="http://schemas.openxmlformats.org/drawingml/2006/main">
              <a:ext uri="{FF2B5EF4-FFF2-40B4-BE49-F238E27FC236}">
                <a16:creationId xmlns:a16="http://schemas.microsoft.com/office/drawing/2014/main" id="{176DD2F2-63D7-4B37-B816-498F8DBB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876300"/>
            <a:ext cx="9525" cy="692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5" name="s2-title">
            <a:extLst xmlns:a="http://schemas.openxmlformats.org/drawingml/2006/main">
              <a:ext uri="{FF2B5EF4-FFF2-40B4-BE49-F238E27FC236}">
                <a16:creationId xmlns:a16="http://schemas.microsoft.com/office/drawing/2014/main" id="{4DA19E5E-A5B5-469F-9B9D-076F9CAD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4638675" cy="61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책임 분리로</a:t>
            </a:r>
          </a:p>
        </p:txBody>
      </p:sp>
      <p:sp>
        <p:nvSpPr>
          <p:cNvPr id="6" name="s2-title">
            <a:extLst xmlns:a="http://schemas.openxmlformats.org/drawingml/2006/main">
              <a:ext uri="{FF2B5EF4-FFF2-40B4-BE49-F238E27FC236}">
                <a16:creationId xmlns:a16="http://schemas.microsoft.com/office/drawing/2014/main" id="{8B6E3B24-7499-40B3-8725-F9403326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1022"/>
            <a:ext cx="4638675" cy="61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공통 로직 재사용</a:t>
            </a:r>
          </a:p>
        </p:txBody>
      </p:sp>
      <p:sp>
        <p:nvSpPr>
          <p:cNvPr id="7" name="s2-subtitle">
            <a:extLst xmlns:a="http://schemas.openxmlformats.org/drawingml/2006/main">
              <a:ext uri="{FF2B5EF4-FFF2-40B4-BE49-F238E27FC236}">
                <a16:creationId xmlns:a16="http://schemas.microsoft.com/office/drawing/2014/main" id="{AD4590D0-5C84-4A5B-BDBA-9A4549B8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466725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STM32·Zynq의 플랫폼 의존부 분리</a:t>
            </a:r>
          </a:p>
        </p:txBody>
      </p:sp>
      <p:sp>
        <p:nvSpPr>
          <p:cNvPr id="8" name="s2-subtitle">
            <a:extLst xmlns:a="http://schemas.openxmlformats.org/drawingml/2006/main">
              <a:ext uri="{FF2B5EF4-FFF2-40B4-BE49-F238E27FC236}">
                <a16:creationId xmlns:a16="http://schemas.microsoft.com/office/drawing/2014/main" id="{E07223B9-333C-4D87-B142-FFC8F1D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2711"/>
            <a:ext cx="466725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공통 제어·매핑 로직의 무수정 재사용</a:t>
            </a:r>
          </a:p>
        </p:txBody>
      </p:sp>
      <p:sp>
        <p:nvSpPr>
          <p:cNvPr id="9" name="surface-27">
            <a:extLst xmlns:a="http://schemas.openxmlformats.org/drawingml/2006/main">
              <a:ext uri="{FF2B5EF4-FFF2-40B4-BE49-F238E27FC236}">
                <a16:creationId xmlns:a16="http://schemas.microsoft.com/office/drawing/2014/main" id="{F18DC686-F56E-4020-8CA1-C1DD9D28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767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5F"/>
          </a:solidFill>
          <a:ln xmlns:a="http://schemas.openxmlformats.org/drawingml/2006/main" w="0">
            <a:noFill/>
          </a:ln>
        </p:spPr>
      </p:sp>
      <p:sp>
        <p:nvSpPr>
          <p:cNvPr id="10" name="text-28">
            <a:extLst xmlns:a="http://schemas.openxmlformats.org/drawingml/2006/main">
              <a:ext uri="{FF2B5EF4-FFF2-40B4-BE49-F238E27FC236}">
                <a16:creationId xmlns:a16="http://schemas.microsoft.com/office/drawing/2014/main" id="{EC371CEA-880B-404D-B139-A8D7202A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40005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-29">
            <a:extLst xmlns:a="http://schemas.openxmlformats.org/drawingml/2006/main">
              <a:ext uri="{FF2B5EF4-FFF2-40B4-BE49-F238E27FC236}">
                <a16:creationId xmlns:a16="http://schemas.microsoft.com/office/drawing/2014/main" id="{EC765E83-70B9-4F86-B473-A0D90AF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95850"/>
            <a:ext cx="422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LIG와 다양화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34C2E-C12D-4BDF-A611-FD1FABFC62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44880ae2b4d22"/>
          <a:stretch xmlns:a="http://schemas.openxmlformats.org/drawingml/2006/main"/>
        </p:blipFill>
        <p:spPr>
          <a:xfrm xmlns:a="http://schemas.openxmlformats.org/drawingml/2006/main">
            <a:off x="457200" y="5496967"/>
            <a:ext cx="1428750" cy="1436191"/>
          </a:xfrm>
          <a:prstGeom xmlns:a="http://schemas.openxmlformats.org/drawingml/2006/main" prst="rect">
            <a:avLst/>
          </a:prstGeom>
        </p:spPr>
      </p:pic>
      <p:sp>
        <p:nvSpPr>
          <p:cNvPr id="13" name="text-30">
            <a:extLst xmlns:a="http://schemas.openxmlformats.org/drawingml/2006/main">
              <a:ext uri="{FF2B5EF4-FFF2-40B4-BE49-F238E27FC236}">
                <a16:creationId xmlns:a16="http://schemas.microsoft.com/office/drawing/2014/main" id="{4CBA1323-C9ED-4139-8EA0-CBC40906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72325"/>
            <a:ext cx="14287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제품 다양화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94FBB-B40B-47A4-827F-798B441554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155d51ea3454c"/>
          <a:stretch xmlns:a="http://schemas.openxmlformats.org/drawingml/2006/main"/>
        </p:blipFill>
        <p:spPr>
          <a:xfrm xmlns:a="http://schemas.openxmlformats.org/drawingml/2006/main">
            <a:off x="2009775" y="5496967"/>
            <a:ext cx="1428750" cy="1436191"/>
          </a:xfrm>
          <a:prstGeom xmlns:a="http://schemas.openxmlformats.org/drawingml/2006/main" prst="rect">
            <a:avLst/>
          </a:prstGeom>
        </p:spPr>
      </p:pic>
      <p:sp>
        <p:nvSpPr>
          <p:cNvPr id="15" name="text-31">
            <a:extLst xmlns:a="http://schemas.openxmlformats.org/drawingml/2006/main">
              <a:ext uri="{FF2B5EF4-FFF2-40B4-BE49-F238E27FC236}">
                <a16:creationId xmlns:a16="http://schemas.microsoft.com/office/drawing/2014/main" id="{CEF89D75-471B-4A92-B4B0-E73F953C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172325"/>
            <a:ext cx="14287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임무 다양화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3DBC7-2C50-4B43-B2CB-4E656C8A0F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6880611394f2f"/>
          <a:stretch xmlns:a="http://schemas.openxmlformats.org/drawingml/2006/main"/>
        </p:blipFill>
        <p:spPr>
          <a:xfrm xmlns:a="http://schemas.openxmlformats.org/drawingml/2006/main">
            <a:off x="3562350" y="5496967"/>
            <a:ext cx="1428750" cy="1436191"/>
          </a:xfrm>
          <a:prstGeom xmlns:a="http://schemas.openxmlformats.org/drawingml/2006/main" prst="rect">
            <a:avLst/>
          </a:prstGeom>
        </p:spPr>
      </p:pic>
      <p:sp>
        <p:nvSpPr>
          <p:cNvPr id="17" name="text-32">
            <a:extLst xmlns:a="http://schemas.openxmlformats.org/drawingml/2006/main">
              <a:ext uri="{FF2B5EF4-FFF2-40B4-BE49-F238E27FC236}">
                <a16:creationId xmlns:a16="http://schemas.microsoft.com/office/drawing/2014/main" id="{08019CE1-FFFA-49F8-AC12-A9BE4DE5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7172325"/>
            <a:ext cx="14287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연동 다양화</a:t>
            </a:r>
          </a:p>
        </p:txBody>
      </p:sp>
      <p:sp>
        <p:nvSpPr>
          <p:cNvPr id="18" name="text-33">
            <a:extLst xmlns:a="http://schemas.openxmlformats.org/drawingml/2006/main">
              <a:ext uri="{FF2B5EF4-FFF2-40B4-BE49-F238E27FC236}">
                <a16:creationId xmlns:a16="http://schemas.microsoft.com/office/drawing/2014/main" id="{7968024A-A9EC-400D-8F18-AB2F4B09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62000"/>
            <a:ext cx="400050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9" name="text-34">
            <a:extLst xmlns:a="http://schemas.openxmlformats.org/drawingml/2006/main">
              <a:ext uri="{FF2B5EF4-FFF2-40B4-BE49-F238E27FC236}">
                <a16:creationId xmlns:a16="http://schemas.microsoft.com/office/drawing/2014/main" id="{30B1A695-91B0-41B7-BBB0-CECCA517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762000"/>
            <a:ext cx="8620125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책임 분리 기반의 공통 제어 로직 재사용 구조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1220C-0B56-4ACB-8EFA-D5DB613C92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320d9f6874d8f"/>
          <a:stretch xmlns:a="http://schemas.openxmlformats.org/drawingml/2006/main"/>
        </p:blipFill>
        <p:spPr>
          <a:xfrm xmlns:a="http://schemas.openxmlformats.org/drawingml/2006/main">
            <a:off x="5718456" y="1219200"/>
            <a:ext cx="9022788" cy="3409950"/>
          </a:xfrm>
          <a:prstGeom xmlns:a="http://schemas.openxmlformats.org/drawingml/2006/main" prst="rect">
            <a:avLst/>
          </a:prstGeom>
        </p:spPr>
      </p:pic>
      <p:sp>
        <p:nvSpPr>
          <p:cNvPr id="21" name="surface-35">
            <a:extLst xmlns:a="http://schemas.openxmlformats.org/drawingml/2006/main">
              <a:ext uri="{FF2B5EF4-FFF2-40B4-BE49-F238E27FC236}">
                <a16:creationId xmlns:a16="http://schemas.microsoft.com/office/drawing/2014/main" id="{1BF7635B-3302-42AE-8721-9DE5FAAB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29175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22" name="text-36">
            <a:extLst xmlns:a="http://schemas.openxmlformats.org/drawingml/2006/main">
              <a:ext uri="{FF2B5EF4-FFF2-40B4-BE49-F238E27FC236}">
                <a16:creationId xmlns:a16="http://schemas.microsoft.com/office/drawing/2014/main" id="{CB934DD0-5C23-454B-91D2-3B1A8A9B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72050"/>
            <a:ext cx="447675" cy="212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23" name="text-37">
            <a:extLst xmlns:a="http://schemas.openxmlformats.org/drawingml/2006/main">
              <a:ext uri="{FF2B5EF4-FFF2-40B4-BE49-F238E27FC236}">
                <a16:creationId xmlns:a16="http://schemas.microsoft.com/office/drawing/2014/main" id="{A8DE9156-8B6D-4A60-80A0-2A859A9B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72050"/>
            <a:ext cx="8448675" cy="212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보드·서보 변경이 제어식 수정으로 번지지 않도록, 조향각·PWM 명령을 경계로 책임을 분리</a:t>
            </a:r>
          </a:p>
        </p:txBody>
      </p:sp>
      <p:sp>
        <p:nvSpPr>
          <p:cNvPr id="24" name="text-38">
            <a:extLst xmlns:a="http://schemas.openxmlformats.org/drawingml/2006/main">
              <a:ext uri="{FF2B5EF4-FFF2-40B4-BE49-F238E27FC236}">
                <a16:creationId xmlns:a16="http://schemas.microsoft.com/office/drawing/2014/main" id="{5BAA9895-288A-40A7-B085-CF990F2E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62600"/>
            <a:ext cx="400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5" name="text-39">
            <a:extLst xmlns:a="http://schemas.openxmlformats.org/drawingml/2006/main">
              <a:ext uri="{FF2B5EF4-FFF2-40B4-BE49-F238E27FC236}">
                <a16:creationId xmlns:a16="http://schemas.microsoft.com/office/drawing/2014/main" id="{B65A3E87-8DA4-4FB8-89AA-9171EBBE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562600"/>
            <a:ext cx="3590925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이기종 제어 데이터 흐름</a:t>
            </a:r>
          </a:p>
        </p:txBody>
      </p:sp>
      <p:sp>
        <p:nvSpPr>
          <p:cNvPr id="26" name="text-40">
            <a:extLst xmlns:a="http://schemas.openxmlformats.org/drawingml/2006/main">
              <a:ext uri="{FF2B5EF4-FFF2-40B4-BE49-F238E27FC236}">
                <a16:creationId xmlns:a16="http://schemas.microsoft.com/office/drawing/2014/main" id="{8D78994F-A222-4BB9-96A7-53CF8C58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562600"/>
            <a:ext cx="400050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7" name="text-41">
            <a:extLst xmlns:a="http://schemas.openxmlformats.org/drawingml/2006/main">
              <a:ext uri="{FF2B5EF4-FFF2-40B4-BE49-F238E27FC236}">
                <a16:creationId xmlns:a16="http://schemas.microsoft.com/office/drawing/2014/main" id="{9D94FDC5-471D-4890-B497-06E56C50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562600"/>
            <a:ext cx="4352925" cy="271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7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7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7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7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7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7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7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7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7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공통 제어·매핑의 무수정 이식 결과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D1CFED-D86D-4437-B02F-F4C8156BFC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1c7599d054c58"/>
          <a:stretch xmlns:a="http://schemas.openxmlformats.org/drawingml/2006/main"/>
        </p:blipFill>
        <p:spPr>
          <a:xfrm xmlns:a="http://schemas.openxmlformats.org/drawingml/2006/main">
            <a:off x="5719031" y="5991225"/>
            <a:ext cx="3992437" cy="1971675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B59CA5-DC21-4EF7-A39F-2CFABE4BE9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ec05960fb4ef2"/>
          <a:stretch xmlns:a="http://schemas.openxmlformats.org/drawingml/2006/main"/>
        </p:blipFill>
        <p:spPr>
          <a:xfrm xmlns:a="http://schemas.openxmlformats.org/drawingml/2006/main">
            <a:off x="9987295" y="6296025"/>
            <a:ext cx="4752310" cy="1295400"/>
          </a:xfrm>
          <a:prstGeom xmlns:a="http://schemas.openxmlformats.org/drawingml/2006/main" prst="rect">
            <a:avLst/>
          </a:prstGeom>
        </p:spPr>
      </p:pic>
      <p:sp>
        <p:nvSpPr>
          <p:cNvPr id="30" name="surface-42">
            <a:extLst xmlns:a="http://schemas.openxmlformats.org/drawingml/2006/main">
              <a:ext uri="{FF2B5EF4-FFF2-40B4-BE49-F238E27FC236}">
                <a16:creationId xmlns:a16="http://schemas.microsoft.com/office/drawing/2014/main" id="{BC5647F4-F501-4A4B-A111-22A7CBC1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0">
            <a:noFill/>
          </a:ln>
        </p:spPr>
      </p:sp>
      <p:sp>
        <p:nvSpPr>
          <p:cNvPr id="31" name="surface-43">
            <a:extLst xmlns:a="http://schemas.openxmlformats.org/drawingml/2006/main">
              <a:ext uri="{FF2B5EF4-FFF2-40B4-BE49-F238E27FC236}">
                <a16:creationId xmlns:a16="http://schemas.microsoft.com/office/drawing/2014/main" id="{1A06293C-FAC7-4F8A-BBFF-F0B0F0BD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01025"/>
            <a:ext cx="28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5F"/>
          </a:solidFill>
          <a:ln xmlns:a="http://schemas.openxmlformats.org/drawingml/2006/main" w="0">
            <a:noFill/>
          </a:ln>
        </p:spPr>
      </p:sp>
      <p:sp>
        <p:nvSpPr>
          <p:cNvPr id="32" name="text-44">
            <a:extLst xmlns:a="http://schemas.openxmlformats.org/drawingml/2006/main">
              <a:ext uri="{FF2B5EF4-FFF2-40B4-BE49-F238E27FC236}">
                <a16:creationId xmlns:a16="http://schemas.microsoft.com/office/drawing/2014/main" id="{A1036B93-0F45-44E2-87E7-45CD39AB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0"/>
            <a:ext cx="476250" cy="22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분석</a:t>
            </a:r>
          </a:p>
        </p:txBody>
      </p:sp>
      <p:sp>
        <p:nvSpPr>
          <p:cNvPr id="33" name="text-45">
            <a:extLst xmlns:a="http://schemas.openxmlformats.org/drawingml/2006/main">
              <a:ext uri="{FF2B5EF4-FFF2-40B4-BE49-F238E27FC236}">
                <a16:creationId xmlns:a16="http://schemas.microsoft.com/office/drawing/2014/main" id="{DD38FF59-E6AA-4B8C-8DA3-FDF87C36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8191500"/>
            <a:ext cx="13620750" cy="22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공통 기능과 변경되는 플랫폼 기능의 경계를 명확히 하는 설계 역량</a:t>
            </a:r>
          </a:p>
        </p:txBody>
      </p:sp>
    </p:spTree>
    <p:extLst>
      <p:ext uri="{BB962C8B-B14F-4D97-AF65-F5344CB8AC3E}">
        <p14:creationId xmlns:p14="http://schemas.microsoft.com/office/powerpoint/2010/main" val="1053256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surface-46">
            <a:extLst xmlns:a="http://schemas.openxmlformats.org/drawingml/2006/main">
              <a:ext uri="{FF2B5EF4-FFF2-40B4-BE49-F238E27FC236}">
                <a16:creationId xmlns:a16="http://schemas.microsoft.com/office/drawing/2014/main" id="{2430997A-D17B-4822-B0C7-C6E0321A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5F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CC9C5-3CEF-4F63-BB04-519CFD15FD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415519f834cbb"/>
          <a:stretch xmlns:a="http://schemas.openxmlformats.org/drawingml/2006/main"/>
        </p:blipFill>
        <p:spPr>
          <a:xfrm xmlns:a="http://schemas.openxmlformats.org/drawingml/2006/main">
            <a:off x="12001500" y="228711"/>
            <a:ext cx="2762250" cy="256953"/>
          </a:xfrm>
          <a:prstGeom xmlns:a="http://schemas.openxmlformats.org/drawingml/2006/main" prst="rect">
            <a:avLst/>
          </a:prstGeom>
        </p:spPr>
      </p:pic>
      <p:sp>
        <p:nvSpPr>
          <p:cNvPr id="3" name="text-47">
            <a:extLst xmlns:a="http://schemas.openxmlformats.org/drawingml/2006/main">
              <a:ext uri="{FF2B5EF4-FFF2-40B4-BE49-F238E27FC236}">
                <a16:creationId xmlns:a16="http://schemas.microsoft.com/office/drawing/2014/main" id="{4125B9FE-534F-4F1B-BA15-5928C876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#2 야지 자율주행 UGV</a:t>
            </a:r>
          </a:p>
        </p:txBody>
      </p:sp>
      <p:sp>
        <p:nvSpPr>
          <p:cNvPr id="4" name="text-48">
            <a:extLst xmlns:a="http://schemas.openxmlformats.org/drawingml/2006/main">
              <a:ext uri="{FF2B5EF4-FFF2-40B4-BE49-F238E27FC236}">
                <a16:creationId xmlns:a16="http://schemas.microsoft.com/office/drawing/2014/main" id="{FE86CE4D-A2BD-4391-B903-531BBEE3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"/>
            <a:ext cx="100965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- LIG D&amp;A The SSEN 임베디드 SW스쿨 최종 프로젝트</a:t>
            </a:r>
          </a:p>
        </p:txBody>
      </p:sp>
      <p:sp>
        <p:nvSpPr>
          <p:cNvPr id="5" name="surface-49">
            <a:extLst xmlns:a="http://schemas.openxmlformats.org/drawingml/2006/main">
              <a:ext uri="{FF2B5EF4-FFF2-40B4-BE49-F238E27FC236}">
                <a16:creationId xmlns:a16="http://schemas.microsoft.com/office/drawing/2014/main" id="{DB73D053-4623-4010-A859-749AF6E8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876300"/>
            <a:ext cx="9525" cy="692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6" name="s3-title">
            <a:extLst xmlns:a="http://schemas.openxmlformats.org/drawingml/2006/main">
              <a:ext uri="{FF2B5EF4-FFF2-40B4-BE49-F238E27FC236}">
                <a16:creationId xmlns:a16="http://schemas.microsoft.com/office/drawing/2014/main" id="{FC7FB020-8908-4F45-A5A8-A8482C71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638675" cy="537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프로젝트 조건에 맞춘</a:t>
            </a:r>
          </a:p>
        </p:txBody>
      </p:sp>
      <p:sp>
        <p:nvSpPr>
          <p:cNvPr id="7" name="s3-title">
            <a:extLst xmlns:a="http://schemas.openxmlformats.org/drawingml/2006/main">
              <a:ext uri="{FF2B5EF4-FFF2-40B4-BE49-F238E27FC236}">
                <a16:creationId xmlns:a16="http://schemas.microsoft.com/office/drawing/2014/main" id="{B7E91144-AC8A-4ADB-9E92-205F795D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1401"/>
            <a:ext cx="4638675" cy="537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3413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알고리즘 적용 설계·검증</a:t>
            </a:r>
          </a:p>
        </p:txBody>
      </p:sp>
      <p:sp>
        <p:nvSpPr>
          <p:cNvPr id="8" name="s3-subtitle">
            <a:extLst xmlns:a="http://schemas.openxmlformats.org/drawingml/2006/main">
              <a:ext uri="{FF2B5EF4-FFF2-40B4-BE49-F238E27FC236}">
                <a16:creationId xmlns:a16="http://schemas.microsoft.com/office/drawing/2014/main" id="{E4001603-AFD6-477B-8E21-CA93412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4638675" cy="289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알고리즘 특성과 운용 조건을 분석한</a:t>
            </a:r>
          </a:p>
        </p:txBody>
      </p:sp>
      <p:sp>
        <p:nvSpPr>
          <p:cNvPr id="9" name="s3-subtitle">
            <a:extLst xmlns:a="http://schemas.openxmlformats.org/drawingml/2006/main">
              <a:ext uri="{FF2B5EF4-FFF2-40B4-BE49-F238E27FC236}">
                <a16:creationId xmlns:a16="http://schemas.microsoft.com/office/drawing/2014/main" id="{2591461E-AAC6-4FE1-A247-45B7C880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6420"/>
            <a:ext cx="4638675" cy="289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838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GPP·LPP 연산 부담 및 역할 이관 기준 설계</a:t>
            </a:r>
          </a:p>
        </p:txBody>
      </p:sp>
      <p:sp>
        <p:nvSpPr>
          <p:cNvPr id="10" name="surface-50">
            <a:extLst xmlns:a="http://schemas.openxmlformats.org/drawingml/2006/main">
              <a:ext uri="{FF2B5EF4-FFF2-40B4-BE49-F238E27FC236}">
                <a16:creationId xmlns:a16="http://schemas.microsoft.com/office/drawing/2014/main" id="{E69D14D6-2995-4BEE-AB5F-2FDF20BC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958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5F"/>
          </a:solidFill>
          <a:ln xmlns:a="http://schemas.openxmlformats.org/drawingml/2006/main" w="0">
            <a:noFill/>
          </a:ln>
        </p:spPr>
      </p:sp>
      <p:sp>
        <p:nvSpPr>
          <p:cNvPr id="11" name="text-51">
            <a:extLst xmlns:a="http://schemas.openxmlformats.org/drawingml/2006/main">
              <a:ext uri="{FF2B5EF4-FFF2-40B4-BE49-F238E27FC236}">
                <a16:creationId xmlns:a16="http://schemas.microsoft.com/office/drawing/2014/main" id="{D7B6C65A-1EA1-45D0-ADEA-3FD825F3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40005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text-52">
            <a:extLst xmlns:a="http://schemas.openxmlformats.org/drawingml/2006/main">
              <a:ext uri="{FF2B5EF4-FFF2-40B4-BE49-F238E27FC236}">
                <a16:creationId xmlns:a16="http://schemas.microsoft.com/office/drawing/2014/main" id="{8C7CEBF7-E677-4639-A91B-261E7A59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95850"/>
            <a:ext cx="1971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GPP·LPP</a:t>
            </a:r>
          </a:p>
        </p:txBody>
      </p:sp>
      <p:sp>
        <p:nvSpPr>
          <p:cNvPr id="13" name="surface-53">
            <a:extLst xmlns:a="http://schemas.openxmlformats.org/drawingml/2006/main">
              <a:ext uri="{FF2B5EF4-FFF2-40B4-BE49-F238E27FC236}">
                <a16:creationId xmlns:a16="http://schemas.microsoft.com/office/drawing/2014/main" id="{BF2733A8-1F03-426C-9DA3-02F91051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958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5F"/>
          </a:solidFill>
          <a:ln xmlns:a="http://schemas.openxmlformats.org/drawingml/2006/main" w="0">
            <a:noFill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94F32AA9-9A70-4BEE-BFA6-42A68F3C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9585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02 분담 경계를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B31440DE-FBD1-46A3-9DD2-2247061A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911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바꾸는 조건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88560-128F-4F26-8A42-0D7CA99CF147}"/>
              </a:ext>
            </a:extLst>
          </p:cNvPr>
          <p:cNvGraphicFramePr/>
          <p:nvPr/>
        </p:nvGraphicFramePr>
        <p:xfrm>
          <a:off xmlns:a="http://schemas.openxmlformats.org/drawingml/2006/main" x="457200" y="5724525"/>
          <a:ext xmlns:a="http://schemas.openxmlformats.org/drawingml/2006/main" cx="2381250" cy="1276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47700"/>
                <a:gridCol w="1733550"/>
              </a:tblGrid>
              <a:tr h="323850"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1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계획</a:t>
                      </a:r>
                    </a:p>
                  </a:txBody>
                  <a:tcPr marL="76200" marR="76200" marT="28575" marB="28575" anchor="ctr">
                    <a:lnL w="6668">
                      <a:solidFill>
                        <a:srgbClr val="D5DEE8"/>
                      </a:solidFill>
                      <a:prstDash val="solid"/>
                    </a:lnL>
                    <a:lnR w="6668">
                      <a:solidFill>
                        <a:srgbClr val="D5DEE8"/>
                      </a:solidFill>
                      <a:prstDash val="solid"/>
                    </a:lnR>
                    <a:lnT w="6668">
                      <a:solidFill>
                        <a:srgbClr val="D5DEE8"/>
                      </a:solidFill>
                      <a:prstDash val="solid"/>
                    </a:lnT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17385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1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역할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T w="6668">
                      <a:solidFill>
                        <a:srgbClr val="D5DEE8"/>
                      </a:solidFill>
                      <a:prstDash val="solid"/>
                    </a:lnT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17385F"/>
                    </a:solidFill>
                  </a:tcPr>
                </a:tc>
              </a:tr>
              <a:tr h="428625"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155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GPP</a:t>
                      </a:r>
                    </a:p>
                  </a:txBody>
                  <a:tcPr marL="76200" marR="76200" marT="28575" marB="28575" anchor="ctr">
                    <a:lnL w="6668">
                      <a:solidFill>
                        <a:srgbClr val="D5DEE8"/>
                      </a:solidFill>
                      <a:prstDash val="solid"/>
                    </a:lnL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155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목적지까지 큰 경로 탐색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155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LPP</a:t>
                      </a:r>
                    </a:p>
                  </a:txBody>
                  <a:tcPr marL="76200" marR="76200" marT="28575" marB="28575" anchor="ctr">
                    <a:lnL w="6668">
                      <a:solidFill>
                        <a:srgbClr val="D5DEE8"/>
                      </a:solidFill>
                      <a:prstDash val="solid"/>
                    </a:lnL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155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주변·차량 제약내</a:t>
                      </a:r>
                    </a:p>
                    <a:p>
                      <a:pPr algn="ctr"/>
                      <a:r>
                        <a:rPr sz="1155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속도·조향 계산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" name="surface-54">
            <a:extLst xmlns:a="http://schemas.openxmlformats.org/drawingml/2006/main">
              <a:ext uri="{FF2B5EF4-FFF2-40B4-BE49-F238E27FC236}">
                <a16:creationId xmlns:a16="http://schemas.microsoft.com/office/drawing/2014/main" id="{DA151170-126F-4F53-BC26-2DC976A8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24525"/>
            <a:ext cx="1990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0">
            <a:noFill/>
          </a:ln>
        </p:spPr>
      </p:sp>
      <p:sp>
        <p:nvSpPr>
          <p:cNvPr id="18" name="text-55">
            <a:extLst xmlns:a="http://schemas.openxmlformats.org/drawingml/2006/main">
              <a:ext uri="{FF2B5EF4-FFF2-40B4-BE49-F238E27FC236}">
                <a16:creationId xmlns:a16="http://schemas.microsoft.com/office/drawing/2014/main" id="{61A79C9C-CA16-44DB-8669-35F0B1DF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10250"/>
            <a:ext cx="238125" cy="212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9" name="text-56">
            <a:extLst xmlns:a="http://schemas.openxmlformats.org/drawingml/2006/main">
              <a:ext uri="{FF2B5EF4-FFF2-40B4-BE49-F238E27FC236}">
                <a16:creationId xmlns:a16="http://schemas.microsoft.com/office/drawing/2014/main" id="{E0FD7AB4-78F9-4040-9EF0-8F0436CB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19775"/>
            <a:ext cx="1485900" cy="197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차량 속도</a:t>
            </a:r>
          </a:p>
        </p:txBody>
      </p:sp>
      <p:sp>
        <p:nvSpPr>
          <p:cNvPr id="20" name="surface-57">
            <a:extLst xmlns:a="http://schemas.openxmlformats.org/drawingml/2006/main">
              <a:ext uri="{FF2B5EF4-FFF2-40B4-BE49-F238E27FC236}">
                <a16:creationId xmlns:a16="http://schemas.microsoft.com/office/drawing/2014/main" id="{77B37814-3E4D-4617-ACF9-979C9FD0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181725"/>
            <a:ext cx="1990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0">
            <a:noFill/>
          </a:ln>
        </p:spPr>
      </p:sp>
      <p:sp>
        <p:nvSpPr>
          <p:cNvPr id="21" name="text-58">
            <a:extLst xmlns:a="http://schemas.openxmlformats.org/drawingml/2006/main">
              <a:ext uri="{FF2B5EF4-FFF2-40B4-BE49-F238E27FC236}">
                <a16:creationId xmlns:a16="http://schemas.microsoft.com/office/drawing/2014/main" id="{FA375AD8-6862-453F-A914-618169BC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267450"/>
            <a:ext cx="238125" cy="212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2" name="text-59">
            <a:extLst xmlns:a="http://schemas.openxmlformats.org/drawingml/2006/main">
              <a:ext uri="{FF2B5EF4-FFF2-40B4-BE49-F238E27FC236}">
                <a16:creationId xmlns:a16="http://schemas.microsoft.com/office/drawing/2014/main" id="{9BACA9CA-21E1-4F00-8012-16570FB1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76975"/>
            <a:ext cx="1485900" cy="197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지도 변화의 지속성</a:t>
            </a:r>
          </a:p>
        </p:txBody>
      </p:sp>
      <p:sp>
        <p:nvSpPr>
          <p:cNvPr id="23" name="surface-60">
            <a:extLst xmlns:a="http://schemas.openxmlformats.org/drawingml/2006/main">
              <a:ext uri="{FF2B5EF4-FFF2-40B4-BE49-F238E27FC236}">
                <a16:creationId xmlns:a16="http://schemas.microsoft.com/office/drawing/2014/main" id="{751DBFB3-4CEB-4C35-BFB7-7B193F2B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638925"/>
            <a:ext cx="1990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0">
            <a:noFill/>
          </a:ln>
        </p:spPr>
      </p:sp>
      <p:sp>
        <p:nvSpPr>
          <p:cNvPr id="24" name="text-61">
            <a:extLst xmlns:a="http://schemas.openxmlformats.org/drawingml/2006/main">
              <a:ext uri="{FF2B5EF4-FFF2-40B4-BE49-F238E27FC236}">
                <a16:creationId xmlns:a16="http://schemas.microsoft.com/office/drawing/2014/main" id="{023507AB-4537-4FE2-8548-281C2091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724650"/>
            <a:ext cx="238125" cy="212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-62">
            <a:extLst xmlns:a="http://schemas.openxmlformats.org/drawingml/2006/main">
              <a:ext uri="{FF2B5EF4-FFF2-40B4-BE49-F238E27FC236}">
                <a16:creationId xmlns:a16="http://schemas.microsoft.com/office/drawing/2014/main" id="{A9F317E6-C508-4A73-B2BA-EF948473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734175"/>
            <a:ext cx="1485900" cy="197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252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하드웨어 계산 여유</a:t>
            </a:r>
          </a:p>
        </p:txBody>
      </p:sp>
      <p:sp>
        <p:nvSpPr>
          <p:cNvPr id="26" name="text-63">
            <a:extLst xmlns:a="http://schemas.openxmlformats.org/drawingml/2006/main">
              <a:ext uri="{FF2B5EF4-FFF2-40B4-BE49-F238E27FC236}">
                <a16:creationId xmlns:a16="http://schemas.microsoft.com/office/drawing/2014/main" id="{70F4F885-76B2-4B53-9441-057306F6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77125"/>
            <a:ext cx="428625" cy="200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목표</a:t>
            </a:r>
          </a:p>
        </p:txBody>
      </p:sp>
      <p:sp>
        <p:nvSpPr>
          <p:cNvPr id="27" name="text-64">
            <a:extLst xmlns:a="http://schemas.openxmlformats.org/drawingml/2006/main">
              <a:ext uri="{FF2B5EF4-FFF2-40B4-BE49-F238E27FC236}">
                <a16:creationId xmlns:a16="http://schemas.microsoft.com/office/drawing/2014/main" id="{74829ED4-0145-4D56-AE37-B4CA56C9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77125"/>
            <a:ext cx="4105275" cy="200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'저속' · '야지' 에서 누가·언제·얼마나 계산할 것인가</a:t>
            </a:r>
          </a:p>
        </p:txBody>
      </p:sp>
      <p:sp>
        <p:nvSpPr>
          <p:cNvPr id="28" name="text-65">
            <a:extLst xmlns:a="http://schemas.openxmlformats.org/drawingml/2006/main">
              <a:ext uri="{FF2B5EF4-FFF2-40B4-BE49-F238E27FC236}">
                <a16:creationId xmlns:a16="http://schemas.microsoft.com/office/drawing/2014/main" id="{F2526B01-9232-44EA-9454-0139323F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62000"/>
            <a:ext cx="400050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9" name="text-66">
            <a:extLst xmlns:a="http://schemas.openxmlformats.org/drawingml/2006/main">
              <a:ext uri="{FF2B5EF4-FFF2-40B4-BE49-F238E27FC236}">
                <a16:creationId xmlns:a16="http://schemas.microsoft.com/office/drawing/2014/main" id="{BB74E3E7-F5B3-4DE1-87A4-00D1DFE4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762000"/>
            <a:ext cx="8620125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시험 환경과 비교 조건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9D32B4-667C-43B5-B58C-92880EA7B0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9dd1f282a493b"/>
          <a:stretch xmlns:a="http://schemas.openxmlformats.org/drawingml/2006/main"/>
        </p:blipFill>
        <p:spPr>
          <a:xfrm xmlns:a="http://schemas.openxmlformats.org/drawingml/2006/main">
            <a:off x="5715000" y="1306049"/>
            <a:ext cx="2095500" cy="1578901"/>
          </a:xfrm>
          <a:prstGeom xmlns:a="http://schemas.openxmlformats.org/drawingml/2006/main" prst="rect">
            <a:avLst/>
          </a:prstGeom>
        </p:spPr>
      </p:pic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8F6D5A-C63B-4AE5-9D7E-47826ACC78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75b0bcd304472"/>
          <a:stretch xmlns:a="http://schemas.openxmlformats.org/drawingml/2006/main"/>
        </p:blipFill>
        <p:spPr>
          <a:xfrm xmlns:a="http://schemas.openxmlformats.org/drawingml/2006/main">
            <a:off x="8020050" y="1306189"/>
            <a:ext cx="2466975" cy="1550046"/>
          </a:xfrm>
          <a:prstGeom xmlns:a="http://schemas.openxmlformats.org/drawingml/2006/main" prst="rect">
            <a:avLst/>
          </a:prstGeom>
        </p:spPr>
      </p:pic>
      <p:sp>
        <p:nvSpPr>
          <p:cNvPr id="32" name="text-67">
            <a:extLst xmlns:a="http://schemas.openxmlformats.org/drawingml/2006/main">
              <a:ext uri="{FF2B5EF4-FFF2-40B4-BE49-F238E27FC236}">
                <a16:creationId xmlns:a16="http://schemas.microsoft.com/office/drawing/2014/main" id="{C93239A3-94E5-4815-AA64-E78BC6FF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2171700" cy="22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맵 4 LPP 알고리즘 선정 시험</a:t>
            </a:r>
          </a:p>
        </p:txBody>
      </p:sp>
      <p:sp>
        <p:nvSpPr>
          <p:cNvPr id="33" name="text-68">
            <a:extLst xmlns:a="http://schemas.openxmlformats.org/drawingml/2006/main">
              <a:ext uri="{FF2B5EF4-FFF2-40B4-BE49-F238E27FC236}">
                <a16:creationId xmlns:a16="http://schemas.microsoft.com/office/drawing/2014/main" id="{89868C76-4397-421D-9E61-8C3D3822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43275"/>
            <a:ext cx="2171700" cy="124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8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8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8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8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8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8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8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8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8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8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8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617183"/>
                </a:solidFill>
                <a:latin typeface="Pretendard"/>
                <a:ea typeface="Pretendard"/>
                <a:cs typeface="Pretendard"/>
              </a:rPr>
              <a:t>4개 알고리즘 별, 두 임무 총 40회 유효 완주</a:t>
            </a:r>
          </a:p>
        </p:txBody>
      </p:sp>
      <p:sp>
        <p:nvSpPr>
          <p:cNvPr id="34" name="text-69">
            <a:extLst xmlns:a="http://schemas.openxmlformats.org/drawingml/2006/main">
              <a:ext uri="{FF2B5EF4-FFF2-40B4-BE49-F238E27FC236}">
                <a16:creationId xmlns:a16="http://schemas.microsoft.com/office/drawing/2014/main" id="{0CA998A6-26AA-486F-A9B2-77FEFD31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2476500" cy="22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맵 10 본 시험</a:t>
            </a:r>
          </a:p>
        </p:txBody>
      </p:sp>
      <p:sp>
        <p:nvSpPr>
          <p:cNvPr id="35" name="text-70">
            <a:extLst xmlns:a="http://schemas.openxmlformats.org/drawingml/2006/main">
              <a:ext uri="{FF2B5EF4-FFF2-40B4-BE49-F238E27FC236}">
                <a16:creationId xmlns:a16="http://schemas.microsoft.com/office/drawing/2014/main" id="{C9E24D3A-F9DD-4CB7-9DA1-78347514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43275"/>
            <a:ext cx="2476500" cy="135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rPr>
              <a:t>표시 영역은 시험용 비용지도 교란</a:t>
            </a:r>
          </a:p>
        </p:txBody>
      </p:sp>
      <p:graphicFrame>
        <p:nvGraphicFrame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F80C93-DFD4-4FA3-9ECB-67343F72008F}"/>
              </a:ext>
            </a:extLst>
          </p:cNvPr>
          <p:cNvGraphicFramePr/>
          <p:nvPr/>
        </p:nvGraphicFramePr>
        <p:xfrm>
          <a:off xmlns:a="http://schemas.openxmlformats.org/drawingml/2006/main" x="10734675" y="1362075"/>
          <a:ext xmlns:a="http://schemas.openxmlformats.org/drawingml/2006/main" cx="4010025" cy="1428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19200"/>
                <a:gridCol w="1381125"/>
                <a:gridCol w="1409700"/>
              </a:tblGrid>
              <a:tr h="371475"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GPP/LPP</a:t>
                      </a:r>
                    </a:p>
                  </a:txBody>
                  <a:tcPr marL="76200" marR="76200" marT="28575" marB="28575" anchor="ctr">
                    <a:lnL w="6668">
                      <a:solidFill>
                        <a:srgbClr val="D5DEE8"/>
                      </a:solidFill>
                      <a:prstDash val="solid"/>
                    </a:lnL>
                    <a:lnR w="6668">
                      <a:solidFill>
                        <a:srgbClr val="D5DEE8"/>
                      </a:solidFill>
                      <a:prstDash val="solid"/>
                    </a:lnR>
                    <a:lnT w="6668">
                      <a:solidFill>
                        <a:srgbClr val="D5DEE8"/>
                      </a:solidFill>
                      <a:prstDash val="solid"/>
                    </a:lnT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17385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 추종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T w="6668">
                      <a:solidFill>
                        <a:srgbClr val="D5DEE8"/>
                      </a:solidFill>
                      <a:prstDash val="solid"/>
                    </a:lnT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17385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우회통신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T w="6668">
                      <a:solidFill>
                        <a:srgbClr val="D5DEE8"/>
                      </a:solidFill>
                      <a:prstDash val="solid"/>
                    </a:lnT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17385F"/>
                    </a:solidFill>
                  </a:tcPr>
                </a:tc>
              </a:tr>
              <a:tr h="495300"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반복 재탐색</a:t>
                      </a:r>
                    </a:p>
                  </a:txBody>
                  <a:tcPr marL="76200" marR="76200" marT="28575" marB="28575" anchor="ctr">
                    <a:lnL w="6668">
                      <a:solidFill>
                        <a:srgbClr val="D5DEE8"/>
                      </a:solidFill>
                      <a:prstDash val="solid"/>
                    </a:lnL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미실험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유효 경로 재사용</a:t>
                      </a:r>
                    </a:p>
                  </a:txBody>
                  <a:tcPr marL="76200" marR="76200" marT="28575" marB="28575" anchor="ctr">
                    <a:lnL w="6668">
                      <a:solidFill>
                        <a:srgbClr val="D5DEE8"/>
                      </a:solidFill>
                      <a:prstDash val="solid"/>
                    </a:lnL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7" name="text-71">
            <a:extLst xmlns:a="http://schemas.openxmlformats.org/drawingml/2006/main">
              <a:ext uri="{FF2B5EF4-FFF2-40B4-BE49-F238E27FC236}">
                <a16:creationId xmlns:a16="http://schemas.microsoft.com/office/drawing/2014/main" id="{E45B737F-9AB7-4FD0-9CE0-09CCFEAD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048000"/>
            <a:ext cx="4010025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9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9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9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9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9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9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9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9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9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29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29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이관 규칙 후보 D = B + 신규 차단 감지 · 조건부 GPP 이관</a:t>
            </a:r>
          </a:p>
        </p:txBody>
      </p:sp>
      <p:sp>
        <p:nvSpPr>
          <p:cNvPr id="38" name="text-72">
            <a:extLst xmlns:a="http://schemas.openxmlformats.org/drawingml/2006/main">
              <a:ext uri="{FF2B5EF4-FFF2-40B4-BE49-F238E27FC236}">
                <a16:creationId xmlns:a16="http://schemas.microsoft.com/office/drawing/2014/main" id="{E165E5CE-D10A-46D4-8D87-4D8504CA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343275"/>
            <a:ext cx="4010025" cy="135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pPr>
            <a:r>
              <a:rPr sz="863" b="0">
                <a:solidFill>
                  <a:srgbClr val="617183"/>
                </a:solidFill>
                <a:latin typeface="Pretendard"/>
                <a:ea typeface="Pretendard"/>
                <a:cs typeface="Pretendard"/>
              </a:rPr>
              <a:t>PC: Gazebo·인지·GPP  /  Raspberry Pi 4: LPP</a:t>
            </a:r>
          </a:p>
        </p:txBody>
      </p:sp>
      <p:sp>
        <p:nvSpPr>
          <p:cNvPr id="39" name="text-73">
            <a:extLst xmlns:a="http://schemas.openxmlformats.org/drawingml/2006/main">
              <a:ext uri="{FF2B5EF4-FFF2-40B4-BE49-F238E27FC236}">
                <a16:creationId xmlns:a16="http://schemas.microsoft.com/office/drawing/2014/main" id="{1969E616-037C-4F09-BDAA-E0959BCA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90950"/>
            <a:ext cx="400050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0" name="text-74">
            <a:extLst xmlns:a="http://schemas.openxmlformats.org/drawingml/2006/main">
              <a:ext uri="{FF2B5EF4-FFF2-40B4-BE49-F238E27FC236}">
                <a16:creationId xmlns:a16="http://schemas.microsoft.com/office/drawing/2014/main" id="{E64E89AB-C554-4C35-B185-767D942C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790950"/>
            <a:ext cx="8620125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비교 조건을 보완한 순차 실험</a:t>
            </a:r>
          </a:p>
        </p:txBody>
      </p:sp>
      <p:sp>
        <p:nvSpPr>
          <p:cNvPr id="41" name="text-75">
            <a:extLst xmlns:a="http://schemas.openxmlformats.org/drawingml/2006/main">
              <a:ext uri="{FF2B5EF4-FFF2-40B4-BE49-F238E27FC236}">
                <a16:creationId xmlns:a16="http://schemas.microsoft.com/office/drawing/2014/main" id="{9810BDE8-3C4F-4BD3-802A-5728D4F6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76725"/>
            <a:ext cx="228600" cy="14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2" name="surface-76">
            <a:extLst xmlns:a="http://schemas.openxmlformats.org/drawingml/2006/main">
              <a:ext uri="{FF2B5EF4-FFF2-40B4-BE49-F238E27FC236}">
                <a16:creationId xmlns:a16="http://schemas.microsoft.com/office/drawing/2014/main" id="{C74887DA-1B32-44C6-B597-79F40BEC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52925"/>
            <a:ext cx="1400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43" name="text-77">
            <a:extLst xmlns:a="http://schemas.openxmlformats.org/drawingml/2006/main">
              <a:ext uri="{FF2B5EF4-FFF2-40B4-BE49-F238E27FC236}">
                <a16:creationId xmlns:a16="http://schemas.microsoft.com/office/drawing/2014/main" id="{2CCAB305-D8A7-40BE-BC88-1BA94F33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43425"/>
            <a:ext cx="1714500" cy="21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rPr>
              <a:t>LPP 알고리즘 선정 시험</a:t>
            </a:r>
          </a:p>
        </p:txBody>
      </p:sp>
      <p:sp>
        <p:nvSpPr>
          <p:cNvPr id="44" name="text-78">
            <a:extLst xmlns:a="http://schemas.openxmlformats.org/drawingml/2006/main">
              <a:ext uri="{FF2B5EF4-FFF2-40B4-BE49-F238E27FC236}">
                <a16:creationId xmlns:a16="http://schemas.microsoft.com/office/drawing/2014/main" id="{149FF1E3-4099-4A92-954E-41874963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76800"/>
            <a:ext cx="1714500" cy="14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4개 LPP알고리즘 비교</a:t>
            </a:r>
          </a:p>
        </p:txBody>
      </p:sp>
      <p:sp>
        <p:nvSpPr>
          <p:cNvPr id="45" name="text-79">
            <a:extLst xmlns:a="http://schemas.openxmlformats.org/drawingml/2006/main">
              <a:ext uri="{FF2B5EF4-FFF2-40B4-BE49-F238E27FC236}">
                <a16:creationId xmlns:a16="http://schemas.microsoft.com/office/drawing/2014/main" id="{BC62CC98-77A2-415A-9FF1-0A3A7F54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3256"/>
            <a:ext cx="1714500" cy="14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개선 출발점 RPP 확보</a:t>
            </a:r>
          </a:p>
        </p:txBody>
      </p:sp>
      <p:sp>
        <p:nvSpPr>
          <p:cNvPr id="46" name="text-80">
            <a:extLst xmlns:a="http://schemas.openxmlformats.org/drawingml/2006/main">
              <a:ext uri="{FF2B5EF4-FFF2-40B4-BE49-F238E27FC236}">
                <a16:creationId xmlns:a16="http://schemas.microsoft.com/office/drawing/2014/main" id="{777705FF-E678-4C9A-BB56-E9C55F14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76725"/>
            <a:ext cx="228600" cy="14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7" name="surface-81">
            <a:extLst xmlns:a="http://schemas.openxmlformats.org/drawingml/2006/main">
              <a:ext uri="{FF2B5EF4-FFF2-40B4-BE49-F238E27FC236}">
                <a16:creationId xmlns:a16="http://schemas.microsoft.com/office/drawing/2014/main" id="{AA5218F8-6BE8-4588-863E-D10645B9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52925"/>
            <a:ext cx="1400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48" name="text-82">
            <a:extLst xmlns:a="http://schemas.openxmlformats.org/drawingml/2006/main">
              <a:ext uri="{FF2B5EF4-FFF2-40B4-BE49-F238E27FC236}">
                <a16:creationId xmlns:a16="http://schemas.microsoft.com/office/drawing/2014/main" id="{996DEC07-CCE0-404A-9016-33E46290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43425"/>
            <a:ext cx="1714500" cy="21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rPr>
              <a:t>A/B 첫 비교</a:t>
            </a:r>
          </a:p>
        </p:txBody>
      </p:sp>
      <p:sp>
        <p:nvSpPr>
          <p:cNvPr id="49" name="text-83">
            <a:extLst xmlns:a="http://schemas.openxmlformats.org/drawingml/2006/main">
              <a:ext uri="{FF2B5EF4-FFF2-40B4-BE49-F238E27FC236}">
                <a16:creationId xmlns:a16="http://schemas.microsoft.com/office/drawing/2014/main" id="{B6D6297C-B38C-4B91-93B0-A14DFFB0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76800"/>
            <a:ext cx="1714500" cy="14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두 정책 동시 변경</a:t>
            </a:r>
          </a:p>
        </p:txBody>
      </p:sp>
      <p:sp>
        <p:nvSpPr>
          <p:cNvPr id="50" name="text-84">
            <a:extLst xmlns:a="http://schemas.openxmlformats.org/drawingml/2006/main">
              <a:ext uri="{FF2B5EF4-FFF2-40B4-BE49-F238E27FC236}">
                <a16:creationId xmlns:a16="http://schemas.microsoft.com/office/drawing/2014/main" id="{E868B71E-D1EB-4E21-8603-7EA0BFCE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23256"/>
            <a:ext cx="1714500" cy="14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효과의 원인 혼재</a:t>
            </a:r>
          </a:p>
        </p:txBody>
      </p:sp>
      <p:sp>
        <p:nvSpPr>
          <p:cNvPr id="51" name="text-85">
            <a:extLst xmlns:a="http://schemas.openxmlformats.org/drawingml/2006/main">
              <a:ext uri="{FF2B5EF4-FFF2-40B4-BE49-F238E27FC236}">
                <a16:creationId xmlns:a16="http://schemas.microsoft.com/office/drawing/2014/main" id="{69AD8F99-A18B-4395-9139-58818B43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76725"/>
            <a:ext cx="228600" cy="14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2" name="surface-86">
            <a:extLst xmlns:a="http://schemas.openxmlformats.org/drawingml/2006/main">
              <a:ext uri="{FF2B5EF4-FFF2-40B4-BE49-F238E27FC236}">
                <a16:creationId xmlns:a16="http://schemas.microsoft.com/office/drawing/2014/main" id="{23857B52-AE84-402B-8A26-7EFCEB50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52925"/>
            <a:ext cx="1400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53" name="text-87">
            <a:extLst xmlns:a="http://schemas.openxmlformats.org/drawingml/2006/main">
              <a:ext uri="{FF2B5EF4-FFF2-40B4-BE49-F238E27FC236}">
                <a16:creationId xmlns:a16="http://schemas.microsoft.com/office/drawing/2014/main" id="{621EB018-D733-422B-B0E0-CCFAA32F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43425"/>
            <a:ext cx="1714500" cy="21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rPr>
              <a:t>C 비교군 추가</a:t>
            </a:r>
          </a:p>
        </p:txBody>
      </p:sp>
      <p:sp>
        <p:nvSpPr>
          <p:cNvPr id="54" name="text-88">
            <a:extLst xmlns:a="http://schemas.openxmlformats.org/drawingml/2006/main">
              <a:ext uri="{FF2B5EF4-FFF2-40B4-BE49-F238E27FC236}">
                <a16:creationId xmlns:a16="http://schemas.microsoft.com/office/drawing/2014/main" id="{6C3D7F32-7289-4A48-85EB-97890BBC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76800"/>
            <a:ext cx="1714500" cy="14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A-C 재사용 효과</a:t>
            </a:r>
          </a:p>
        </p:txBody>
      </p:sp>
      <p:sp>
        <p:nvSpPr>
          <p:cNvPr id="55" name="text-89">
            <a:extLst xmlns:a="http://schemas.openxmlformats.org/drawingml/2006/main">
              <a:ext uri="{FF2B5EF4-FFF2-40B4-BE49-F238E27FC236}">
                <a16:creationId xmlns:a16="http://schemas.microsoft.com/office/drawing/2014/main" id="{61BD1C2D-179F-4F01-9FAE-C38ACB10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23256"/>
            <a:ext cx="1714500" cy="14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C-B 우회 통신 대가</a:t>
            </a:r>
          </a:p>
        </p:txBody>
      </p:sp>
      <p:sp>
        <p:nvSpPr>
          <p:cNvPr id="56" name="text-90">
            <a:extLst xmlns:a="http://schemas.openxmlformats.org/drawingml/2006/main">
              <a:ext uri="{FF2B5EF4-FFF2-40B4-BE49-F238E27FC236}">
                <a16:creationId xmlns:a16="http://schemas.microsoft.com/office/drawing/2014/main" id="{BE982864-5096-414E-BE1A-5FA81A25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276725"/>
            <a:ext cx="228600" cy="14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7" name="surface-91">
            <a:extLst xmlns:a="http://schemas.openxmlformats.org/drawingml/2006/main">
              <a:ext uri="{FF2B5EF4-FFF2-40B4-BE49-F238E27FC236}">
                <a16:creationId xmlns:a16="http://schemas.microsoft.com/office/drawing/2014/main" id="{D0B084F3-3EC8-46CC-8385-51AD7B6D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352925"/>
            <a:ext cx="1400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58" name="text-92">
            <a:extLst xmlns:a="http://schemas.openxmlformats.org/drawingml/2006/main">
              <a:ext uri="{FF2B5EF4-FFF2-40B4-BE49-F238E27FC236}">
                <a16:creationId xmlns:a16="http://schemas.microsoft.com/office/drawing/2014/main" id="{3205BC07-B1D2-44BC-8E9C-7B60B56B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543425"/>
            <a:ext cx="1714500" cy="21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rPr>
              <a:t>가중치 비교</a:t>
            </a:r>
          </a:p>
        </p:txBody>
      </p:sp>
      <p:sp>
        <p:nvSpPr>
          <p:cNvPr id="59" name="text-93">
            <a:extLst xmlns:a="http://schemas.openxmlformats.org/drawingml/2006/main">
              <a:ext uri="{FF2B5EF4-FFF2-40B4-BE49-F238E27FC236}">
                <a16:creationId xmlns:a16="http://schemas.microsoft.com/office/drawing/2014/main" id="{3447E5AC-D587-4958-871B-8BA372F8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876800"/>
            <a:ext cx="1714500" cy="14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3개의 가중치 후보 비교</a:t>
            </a:r>
          </a:p>
        </p:txBody>
      </p:sp>
      <p:sp>
        <p:nvSpPr>
          <p:cNvPr id="60" name="text-94">
            <a:extLst xmlns:a="http://schemas.openxmlformats.org/drawingml/2006/main">
              <a:ext uri="{FF2B5EF4-FFF2-40B4-BE49-F238E27FC236}">
                <a16:creationId xmlns:a16="http://schemas.microsoft.com/office/drawing/2014/main" id="{07F82170-8B5B-47A3-BD25-38329F6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276725"/>
            <a:ext cx="228600" cy="14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17183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1" name="surface-95">
            <a:extLst xmlns:a="http://schemas.openxmlformats.org/drawingml/2006/main">
              <a:ext uri="{FF2B5EF4-FFF2-40B4-BE49-F238E27FC236}">
                <a16:creationId xmlns:a16="http://schemas.microsoft.com/office/drawing/2014/main" id="{97C942CB-6235-4C7B-BFA9-0C669B2A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4352925"/>
            <a:ext cx="1400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62" name="text-96">
            <a:extLst xmlns:a="http://schemas.openxmlformats.org/drawingml/2006/main">
              <a:ext uri="{FF2B5EF4-FFF2-40B4-BE49-F238E27FC236}">
                <a16:creationId xmlns:a16="http://schemas.microsoft.com/office/drawing/2014/main" id="{7A588EB3-0825-4A79-98BF-D24E80E6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543425"/>
            <a:ext cx="1714500" cy="21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315F83"/>
                </a:solidFill>
                <a:latin typeface="Pretendard"/>
                <a:ea typeface="Pretendard"/>
                <a:cs typeface="Pretendard"/>
              </a:rPr>
              <a:t>D 반복 검증</a:t>
            </a:r>
          </a:p>
        </p:txBody>
      </p:sp>
      <p:sp>
        <p:nvSpPr>
          <p:cNvPr id="63" name="text-97">
            <a:extLst xmlns:a="http://schemas.openxmlformats.org/drawingml/2006/main">
              <a:ext uri="{FF2B5EF4-FFF2-40B4-BE49-F238E27FC236}">
                <a16:creationId xmlns:a16="http://schemas.microsoft.com/office/drawing/2014/main" id="{1D5E9008-00A6-44E6-86CD-4F60F3DF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876800"/>
            <a:ext cx="1714500" cy="14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상태별 이관 보강</a:t>
            </a:r>
          </a:p>
        </p:txBody>
      </p:sp>
      <p:sp>
        <p:nvSpPr>
          <p:cNvPr id="64" name="text-98">
            <a:extLst xmlns:a="http://schemas.openxmlformats.org/drawingml/2006/main">
              <a:ext uri="{FF2B5EF4-FFF2-40B4-BE49-F238E27FC236}">
                <a16:creationId xmlns:a16="http://schemas.microsoft.com/office/drawing/2014/main" id="{DE99B410-5047-4109-A7CF-3F8E4586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023256"/>
            <a:ext cx="1714500" cy="14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일시 변화·지속 막힘 시나리오</a:t>
            </a:r>
          </a:p>
        </p:txBody>
      </p:sp>
      <p:sp>
        <p:nvSpPr>
          <p:cNvPr id="65" name="text-99">
            <a:extLst xmlns:a="http://schemas.openxmlformats.org/drawingml/2006/main">
              <a:ext uri="{FF2B5EF4-FFF2-40B4-BE49-F238E27FC236}">
                <a16:creationId xmlns:a16="http://schemas.microsoft.com/office/drawing/2014/main" id="{738ED592-B2B6-4A6A-B5C8-999D9688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34025"/>
            <a:ext cx="40005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6" name="text-100">
            <a:extLst xmlns:a="http://schemas.openxmlformats.org/drawingml/2006/main">
              <a:ext uri="{FF2B5EF4-FFF2-40B4-BE49-F238E27FC236}">
                <a16:creationId xmlns:a16="http://schemas.microsoft.com/office/drawing/2014/main" id="{FC38CD69-F110-4A5E-B3A6-9B5D622C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534025"/>
            <a:ext cx="3781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조건을 반영한 원호 선택</a:t>
            </a:r>
          </a:p>
        </p:txBody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A79543B-9663-4B28-84ED-5AF8D83FE2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6b62fe4a44c8f"/>
          <a:stretch xmlns:a="http://schemas.openxmlformats.org/drawingml/2006/main"/>
        </p:blipFill>
        <p:spPr>
          <a:xfrm xmlns:a="http://schemas.openxmlformats.org/drawingml/2006/main">
            <a:off x="5943600" y="5905500"/>
            <a:ext cx="3962400" cy="609600"/>
          </a:xfrm>
          <a:prstGeom xmlns:a="http://schemas.openxmlformats.org/drawingml/2006/main" prst="rect">
            <a:avLst/>
          </a:prstGeom>
        </p:spPr>
      </p:pic>
      <p:sp>
        <p:nvSpPr>
          <p:cNvPr id="68" name="text-101">
            <a:extLst xmlns:a="http://schemas.openxmlformats.org/drawingml/2006/main">
              <a:ext uri="{FF2B5EF4-FFF2-40B4-BE49-F238E27FC236}">
                <a16:creationId xmlns:a16="http://schemas.microsoft.com/office/drawing/2014/main" id="{65A28A27-EAF2-424B-AB9B-122CA520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657975"/>
            <a:ext cx="2619375" cy="200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안전 검사</a:t>
            </a:r>
          </a:p>
        </p:txBody>
      </p:sp>
      <p:sp>
        <p:nvSpPr>
          <p:cNvPr id="69" name="text-102">
            <a:extLst xmlns:a="http://schemas.openxmlformats.org/drawingml/2006/main">
              <a:ext uri="{FF2B5EF4-FFF2-40B4-BE49-F238E27FC236}">
                <a16:creationId xmlns:a16="http://schemas.microsoft.com/office/drawing/2014/main" id="{25BB9FCE-3EF3-49D1-BAD8-D8958B1D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943725"/>
            <a:ext cx="2638425" cy="183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충돌·미관측·차량 제약 위반 후보 제외</a:t>
            </a:r>
          </a:p>
        </p:txBody>
      </p:sp>
      <p:sp>
        <p:nvSpPr>
          <p:cNvPr id="70" name="text-103">
            <a:extLst xmlns:a="http://schemas.openxmlformats.org/drawingml/2006/main">
              <a:ext uri="{FF2B5EF4-FFF2-40B4-BE49-F238E27FC236}">
                <a16:creationId xmlns:a16="http://schemas.microsoft.com/office/drawing/2014/main" id="{70EE0F3B-E850-438D-AB7A-E0A28310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315200"/>
            <a:ext cx="2619375" cy="200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원호 평가</a:t>
            </a:r>
          </a:p>
        </p:txBody>
      </p:sp>
      <p:sp>
        <p:nvSpPr>
          <p:cNvPr id="71" name="text-104">
            <a:extLst xmlns:a="http://schemas.openxmlformats.org/drawingml/2006/main">
              <a:ext uri="{FF2B5EF4-FFF2-40B4-BE49-F238E27FC236}">
                <a16:creationId xmlns:a16="http://schemas.microsoft.com/office/drawing/2014/main" id="{D0ED8EB7-3E79-41EA-BDB9-94692569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591425"/>
            <a:ext cx="2638425" cy="183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여유 부족과 GPP 경로 편차를 함께 평가</a:t>
            </a:r>
          </a:p>
        </p:txBody>
      </p:sp>
      <p:sp>
        <p:nvSpPr>
          <p:cNvPr id="72" name="surface-105">
            <a:extLst xmlns:a="http://schemas.openxmlformats.org/drawingml/2006/main">
              <a:ext uri="{FF2B5EF4-FFF2-40B4-BE49-F238E27FC236}">
                <a16:creationId xmlns:a16="http://schemas.microsoft.com/office/drawing/2014/main" id="{3507CD37-2065-43B5-B86E-8A0B30A9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705600"/>
            <a:ext cx="95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73" name="text-106">
            <a:extLst xmlns:a="http://schemas.openxmlformats.org/drawingml/2006/main">
              <a:ext uri="{FF2B5EF4-FFF2-40B4-BE49-F238E27FC236}">
                <a16:creationId xmlns:a16="http://schemas.microsoft.com/office/drawing/2014/main" id="{8C713820-5218-4F35-8D8C-748F003F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762750"/>
            <a:ext cx="12573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Wp =</a:t>
            </a:r>
          </a:p>
        </p:txBody>
      </p:sp>
      <p:sp>
        <p:nvSpPr>
          <p:cNvPr id="74" name="text-107">
            <a:extLst xmlns:a="http://schemas.openxmlformats.org/drawingml/2006/main">
              <a:ext uri="{FF2B5EF4-FFF2-40B4-BE49-F238E27FC236}">
                <a16:creationId xmlns:a16="http://schemas.microsoft.com/office/drawing/2014/main" id="{C7C30603-9410-4ABD-9EF9-6850B601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117080"/>
            <a:ext cx="12573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0.04 선택</a:t>
            </a:r>
          </a:p>
        </p:txBody>
      </p:sp>
      <p:sp>
        <p:nvSpPr>
          <p:cNvPr id="75" name="text-108">
            <a:extLst xmlns:a="http://schemas.openxmlformats.org/drawingml/2006/main">
              <a:ext uri="{FF2B5EF4-FFF2-40B4-BE49-F238E27FC236}">
                <a16:creationId xmlns:a16="http://schemas.microsoft.com/office/drawing/2014/main" id="{FD794D39-1D7C-49E0-9812-F5C46DE4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886700"/>
            <a:ext cx="4210050" cy="127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1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1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1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1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1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1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1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1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1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1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1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pPr>
            <a:r>
              <a:rPr sz="810" b="0">
                <a:solidFill>
                  <a:srgbClr val="617183"/>
                </a:solidFill>
                <a:latin typeface="Pretendard"/>
                <a:ea typeface="Pretendard"/>
                <a:cs typeface="Pretendard"/>
              </a:rPr>
              <a:t>3개 후보 × 각 5회, 총 15회 비교 평균 시간·양 장치 CPU가 낮은 절충값</a:t>
            </a:r>
          </a:p>
        </p:txBody>
      </p:sp>
      <p:sp>
        <p:nvSpPr>
          <p:cNvPr id="76" name="text-109">
            <a:extLst xmlns:a="http://schemas.openxmlformats.org/drawingml/2006/main">
              <a:ext uri="{FF2B5EF4-FFF2-40B4-BE49-F238E27FC236}">
                <a16:creationId xmlns:a16="http://schemas.microsoft.com/office/drawing/2014/main" id="{1550EBFF-2AB0-4BA4-9905-965552BA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534025"/>
            <a:ext cx="40005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77" name="text-110">
            <a:extLst xmlns:a="http://schemas.openxmlformats.org/drawingml/2006/main">
              <a:ext uri="{FF2B5EF4-FFF2-40B4-BE49-F238E27FC236}">
                <a16:creationId xmlns:a16="http://schemas.microsoft.com/office/drawing/2014/main" id="{F06E013C-ADD5-4DDC-AFDD-62CAB014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534025"/>
            <a:ext cx="410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비교 결과와 적용 판정</a:t>
            </a:r>
          </a:p>
        </p:txBody>
      </p:sp>
      <p:sp>
        <p:nvSpPr>
          <p:cNvPr id="78" name="text-111">
            <a:extLst xmlns:a="http://schemas.openxmlformats.org/drawingml/2006/main">
              <a:ext uri="{FF2B5EF4-FFF2-40B4-BE49-F238E27FC236}">
                <a16:creationId xmlns:a16="http://schemas.microsoft.com/office/drawing/2014/main" id="{E4CEE6B7-EC55-4F03-81A6-C56F4896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905500"/>
            <a:ext cx="4514850" cy="1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55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55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55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55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55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55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55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55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55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55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55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pPr>
            <a:r>
              <a:rPr sz="855" b="0">
                <a:solidFill>
                  <a:srgbClr val="617183"/>
                </a:solidFill>
                <a:latin typeface="Pretendard"/>
                <a:ea typeface="Pretendard"/>
                <a:cs typeface="Pretendard"/>
              </a:rPr>
              <a:t>맵10 비용지도 교란 · 4조건 × 2사건 × 3회 = 24회 · Pi 4 연산</a:t>
            </a:r>
          </a:p>
        </p:txBody>
      </p:sp>
      <p:graphicFrame>
        <p:nvGraphicFrame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4DE7DA0-93B1-478F-A0C5-299D344E33A7}"/>
              </a:ext>
            </a:extLst>
          </p:cNvPr>
          <p:cNvGraphicFramePr/>
          <p:nvPr/>
        </p:nvGraphicFramePr>
        <p:xfrm>
          <a:off xmlns:a="http://schemas.openxmlformats.org/drawingml/2006/main" x="10229850" y="6191250"/>
          <a:ext xmlns:a="http://schemas.openxmlformats.org/drawingml/2006/main" cx="4514850" cy="1381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47825"/>
                <a:gridCol w="1428750"/>
                <a:gridCol w="1438275"/>
              </a:tblGrid>
              <a:tr h="276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 → D 비교</a:t>
                      </a:r>
                    </a:p>
                  </a:txBody>
                  <a:tcPr marL="76200" marR="76200" marT="28575" marB="28575" anchor="ctr">
                    <a:lnL w="6668">
                      <a:solidFill>
                        <a:srgbClr val="D5DEE8"/>
                      </a:solidFill>
                      <a:prstDash val="solid"/>
                    </a:lnL>
                    <a:lnR w="6668">
                      <a:solidFill>
                        <a:srgbClr val="D5DEE8"/>
                      </a:solidFill>
                      <a:prstDash val="solid"/>
                    </a:lnR>
                    <a:lnT w="6668">
                      <a:solidFill>
                        <a:srgbClr val="D5DEE8"/>
                      </a:solidFill>
                      <a:prstDash val="solid"/>
                    </a:lnT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17385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일시 변화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T w="6668">
                      <a:solidFill>
                        <a:srgbClr val="D5DEE8"/>
                      </a:solidFill>
                      <a:prstDash val="solid"/>
                    </a:lnT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17385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지속 막힘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T w="6668">
                      <a:solidFill>
                        <a:srgbClr val="D5DEE8"/>
                      </a:solidFill>
                      <a:prstDash val="solid"/>
                    </a:lnT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17385F"/>
                    </a:solidFill>
                  </a:tcPr>
                </a:tc>
              </a:tr>
              <a:tr h="276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완주 (회/3)</a:t>
                      </a:r>
                    </a:p>
                  </a:txBody>
                  <a:tcPr marL="76200" marR="76200" marT="28575" marB="28575" anchor="ctr">
                    <a:lnL w="6668">
                      <a:solidFill>
                        <a:srgbClr val="D5DEE8"/>
                      </a:solidFill>
                      <a:prstDash val="solid"/>
                    </a:lnL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3/3 → 3/3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2/3 → 3/3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장애물 여유 p05 (m)</a:t>
                      </a:r>
                    </a:p>
                  </a:txBody>
                  <a:tcPr marL="76200" marR="76200" marT="28575" marB="28575" anchor="ctr">
                    <a:lnL w="6668">
                      <a:solidFill>
                        <a:srgbClr val="D5DEE8"/>
                      </a:solidFill>
                      <a:prstDash val="solid"/>
                    </a:lnL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0.535 → 1.356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0.367 → 0.306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276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PC GPP CPU (core·s)</a:t>
                      </a:r>
                    </a:p>
                  </a:txBody>
                  <a:tcPr marL="76200" marR="76200" marT="28575" marB="28575" anchor="ctr">
                    <a:lnL w="6668">
                      <a:solidFill>
                        <a:srgbClr val="D5DEE8"/>
                      </a:solidFill>
                      <a:prstDash val="solid"/>
                    </a:lnL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69.22 → 49.92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70.40 → 50.71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Pi LPP 계산 p95 (ms)</a:t>
                      </a:r>
                    </a:p>
                  </a:txBody>
                  <a:tcPr marL="76200" marR="76200" marT="28575" marB="28575" anchor="ctr">
                    <a:lnL w="6668">
                      <a:solidFill>
                        <a:srgbClr val="D5DEE8"/>
                      </a:solidFill>
                      <a:prstDash val="solid"/>
                    </a:lnL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4.89 → 11.25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1525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5.00 → 45.40</a:t>
                      </a:r>
                    </a:p>
                  </a:txBody>
                  <a:tcPr marL="76200" marR="76200" marT="28575" marB="28575" anchor="ctr">
                    <a:lnR w="6668">
                      <a:solidFill>
                        <a:srgbClr val="D5DEE8"/>
                      </a:solidFill>
                      <a:prstDash val="solid"/>
                    </a:lnR>
                    <a:lnB w="6668">
                      <a:solidFill>
                        <a:srgbClr val="D5DEE8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0" name="text-112">
            <a:extLst xmlns:a="http://schemas.openxmlformats.org/drawingml/2006/main">
              <a:ext uri="{FF2B5EF4-FFF2-40B4-BE49-F238E27FC236}">
                <a16:creationId xmlns:a16="http://schemas.microsoft.com/office/drawing/2014/main" id="{A7780C40-BFF8-4A0C-A2EC-E16ACC08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7667625"/>
            <a:ext cx="4514850" cy="122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0" b="0">
                <a:solidFill>
                  <a:srgbClr val="617183"/>
                </a:solidFill>
                <a:latin typeface="Pretendard"/>
                <a:ea typeface="Pretendard"/>
                <a:cs typeface="Pretendard"/>
              </a:defRPr>
            </a:pPr>
            <a:r>
              <a:rPr sz="780" b="0">
                <a:solidFill>
                  <a:srgbClr val="617183"/>
                </a:solidFill>
                <a:latin typeface="Pretendard"/>
                <a:ea typeface="Pretendard"/>
                <a:cs typeface="Pretendard"/>
              </a:rPr>
              <a:t>C도 6/6 완주 · 완주 외 성과 평균(A·B 지속 n=2) · 여유는 지도상 거리</a:t>
            </a:r>
          </a:p>
        </p:txBody>
      </p:sp>
      <p:sp>
        <p:nvSpPr>
          <p:cNvPr id="81" name="text-113">
            <a:extLst xmlns:a="http://schemas.openxmlformats.org/drawingml/2006/main">
              <a:ext uri="{FF2B5EF4-FFF2-40B4-BE49-F238E27FC236}">
                <a16:creationId xmlns:a16="http://schemas.microsoft.com/office/drawing/2014/main" id="{7808ED26-67F6-4C6F-AB93-4017FA56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7858125"/>
            <a:ext cx="4514850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맵9 시간·여유 목표 미달 → D 최종 적용 보류</a:t>
            </a:r>
          </a:p>
        </p:txBody>
      </p:sp>
      <p:sp>
        <p:nvSpPr>
          <p:cNvPr id="82" name="surface-114">
            <a:extLst xmlns:a="http://schemas.openxmlformats.org/drawingml/2006/main">
              <a:ext uri="{FF2B5EF4-FFF2-40B4-BE49-F238E27FC236}">
                <a16:creationId xmlns:a16="http://schemas.microsoft.com/office/drawing/2014/main" id="{CE3434CD-7D0A-4513-8631-8E51A5CC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0">
            <a:noFill/>
          </a:ln>
        </p:spPr>
      </p:sp>
      <p:sp>
        <p:nvSpPr>
          <p:cNvPr id="83" name="surface-115">
            <a:extLst xmlns:a="http://schemas.openxmlformats.org/drawingml/2006/main">
              <a:ext uri="{FF2B5EF4-FFF2-40B4-BE49-F238E27FC236}">
                <a16:creationId xmlns:a16="http://schemas.microsoft.com/office/drawing/2014/main" id="{0837EE2C-8BC8-45E7-84DF-C8D08ECC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01025"/>
            <a:ext cx="28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5F"/>
          </a:solidFill>
          <a:ln xmlns:a="http://schemas.openxmlformats.org/drawingml/2006/main" w="0">
            <a:noFill/>
          </a:ln>
        </p:spPr>
      </p:sp>
      <p:sp>
        <p:nvSpPr>
          <p:cNvPr id="84" name="text-116">
            <a:extLst xmlns:a="http://schemas.openxmlformats.org/drawingml/2006/main">
              <a:ext uri="{FF2B5EF4-FFF2-40B4-BE49-F238E27FC236}">
                <a16:creationId xmlns:a16="http://schemas.microsoft.com/office/drawing/2014/main" id="{E34ED74E-6ED7-4225-9041-EC822817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0"/>
            <a:ext cx="476250" cy="22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85" name="text-117">
            <a:extLst xmlns:a="http://schemas.openxmlformats.org/drawingml/2006/main">
              <a:ext uri="{FF2B5EF4-FFF2-40B4-BE49-F238E27FC236}">
                <a16:creationId xmlns:a16="http://schemas.microsoft.com/office/drawing/2014/main" id="{AF1183F6-5936-498E-81A0-40B71FB9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8191500"/>
            <a:ext cx="13620750" cy="22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저속 야지·Pi 연산 제약에 맞춰 GPP·LPP 역할 이관을 설계하고, 완주·장애물 여유·계산 지연으로 적용 가능성을 평가</a:t>
            </a:r>
          </a:p>
        </p:txBody>
      </p:sp>
    </p:spTree>
    <p:extLst>
      <p:ext uri="{BB962C8B-B14F-4D97-AF65-F5344CB8AC3E}">
        <p14:creationId xmlns:p14="http://schemas.microsoft.com/office/powerpoint/2010/main" val="1118517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urface-118">
            <a:extLst xmlns:a="http://schemas.openxmlformats.org/drawingml/2006/main">
              <a:ext uri="{FF2B5EF4-FFF2-40B4-BE49-F238E27FC236}">
                <a16:creationId xmlns:a16="http://schemas.microsoft.com/office/drawing/2014/main" id="{A526E530-28B7-4EB0-B1E5-E25D4AFB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5F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CC3F1-7F27-4BB8-80A0-704A353967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027a637984090"/>
          <a:stretch xmlns:a="http://schemas.openxmlformats.org/drawingml/2006/main"/>
        </p:blipFill>
        <p:spPr>
          <a:xfrm xmlns:a="http://schemas.openxmlformats.org/drawingml/2006/main">
            <a:off x="12001500" y="228711"/>
            <a:ext cx="2762250" cy="256953"/>
          </a:xfrm>
          <a:prstGeom xmlns:a="http://schemas.openxmlformats.org/drawingml/2006/main" prst="rect">
            <a:avLst/>
          </a:prstGeom>
        </p:spPr>
      </p:pic>
      <p:sp>
        <p:nvSpPr>
          <p:cNvPr id="3" name="text-119">
            <a:extLst xmlns:a="http://schemas.openxmlformats.org/drawingml/2006/main">
              <a:ext uri="{FF2B5EF4-FFF2-40B4-BE49-F238E27FC236}">
                <a16:creationId xmlns:a16="http://schemas.microsoft.com/office/drawing/2014/main" id="{B0A4534B-436E-4349-ABB4-0FF2EB19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#3 개인 사업 · 지속적인 팀워크와 실행</a:t>
            </a:r>
          </a:p>
        </p:txBody>
      </p:sp>
      <p:sp>
        <p:nvSpPr>
          <p:cNvPr id="4" name="surface-120">
            <a:extLst xmlns:a="http://schemas.openxmlformats.org/drawingml/2006/main">
              <a:ext uri="{FF2B5EF4-FFF2-40B4-BE49-F238E27FC236}">
                <a16:creationId xmlns:a16="http://schemas.microsoft.com/office/drawing/2014/main" id="{19A90867-EEE4-4F09-B1CD-1429C1F7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876300"/>
            <a:ext cx="9525" cy="692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5" name="s4-title">
            <a:extLst xmlns:a="http://schemas.openxmlformats.org/drawingml/2006/main">
              <a:ext uri="{FF2B5EF4-FFF2-40B4-BE49-F238E27FC236}">
                <a16:creationId xmlns:a16="http://schemas.microsoft.com/office/drawing/2014/main" id="{1BE4C021-0A90-4B78-B4F0-34CF29C3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4638675" cy="602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팀과 이어온 기획을</a:t>
            </a:r>
          </a:p>
        </p:txBody>
      </p:sp>
      <p:sp>
        <p:nvSpPr>
          <p:cNvPr id="6" name="s4-title">
            <a:extLst xmlns:a="http://schemas.openxmlformats.org/drawingml/2006/main">
              <a:ext uri="{FF2B5EF4-FFF2-40B4-BE49-F238E27FC236}">
                <a16:creationId xmlns:a16="http://schemas.microsoft.com/office/drawing/2014/main" id="{4FAD820E-72E7-4619-BD37-C49EAC8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9686"/>
            <a:ext cx="4638675" cy="602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382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실제 결과물로</a:t>
            </a:r>
          </a:p>
        </p:txBody>
      </p:sp>
      <p:sp>
        <p:nvSpPr>
          <p:cNvPr id="7" name="s4-subtitle">
            <a:extLst xmlns:a="http://schemas.openxmlformats.org/drawingml/2006/main">
              <a:ext uri="{FF2B5EF4-FFF2-40B4-BE49-F238E27FC236}">
                <a16:creationId xmlns:a16="http://schemas.microsoft.com/office/drawing/2014/main" id="{BB67DDEB-8283-47F2-96B0-ED15F30F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4638675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2023~2026 피드백에 맞춰 바꾸며</a:t>
            </a:r>
          </a:p>
        </p:txBody>
      </p:sp>
      <p:sp>
        <p:nvSpPr>
          <p:cNvPr id="8" name="s4-subtitle">
            <a:extLst xmlns:a="http://schemas.openxmlformats.org/drawingml/2006/main">
              <a:ext uri="{FF2B5EF4-FFF2-40B4-BE49-F238E27FC236}">
                <a16:creationId xmlns:a16="http://schemas.microsoft.com/office/drawing/2014/main" id="{4A4F2F5E-82EB-4CE1-B174-3FF2D69F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5561"/>
            <a:ext cx="4638675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수상·전시·후속 개발 까지 이어간 경험</a:t>
            </a:r>
          </a:p>
        </p:txBody>
      </p:sp>
      <p:sp>
        <p:nvSpPr>
          <p:cNvPr id="9" name="surface-121">
            <a:extLst xmlns:a="http://schemas.openxmlformats.org/drawingml/2006/main">
              <a:ext uri="{FF2B5EF4-FFF2-40B4-BE49-F238E27FC236}">
                <a16:creationId xmlns:a16="http://schemas.microsoft.com/office/drawing/2014/main" id="{46C67E85-D5B3-48AF-92D4-BE4D477D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958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5F"/>
          </a:solidFill>
          <a:ln xmlns:a="http://schemas.openxmlformats.org/drawingml/2006/main" w="0">
            <a:noFill/>
          </a:ln>
        </p:spPr>
      </p:sp>
      <p:sp>
        <p:nvSpPr>
          <p:cNvPr id="10" name="text-122">
            <a:extLst xmlns:a="http://schemas.openxmlformats.org/drawingml/2006/main">
              <a:ext uri="{FF2B5EF4-FFF2-40B4-BE49-F238E27FC236}">
                <a16:creationId xmlns:a16="http://schemas.microsoft.com/office/drawing/2014/main" id="{C2DF4620-A349-42CE-995C-8BA1D75F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40005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-123">
            <a:extLst xmlns:a="http://schemas.openxmlformats.org/drawingml/2006/main">
              <a:ext uri="{FF2B5EF4-FFF2-40B4-BE49-F238E27FC236}">
                <a16:creationId xmlns:a16="http://schemas.microsoft.com/office/drawing/2014/main" id="{E2637B29-CF92-4091-A7A4-22D8F485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05375"/>
            <a:ext cx="422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오랜 협업으로 완성하는 방산 개발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23C93-B08B-4740-BEAB-E16DC4A2D7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37bc56ec64cf3"/>
          <a:stretch xmlns:a="http://schemas.openxmlformats.org/drawingml/2006/main"/>
        </p:blipFill>
        <p:spPr>
          <a:xfrm xmlns:a="http://schemas.openxmlformats.org/drawingml/2006/main">
            <a:off x="590550" y="5659460"/>
            <a:ext cx="1685925" cy="1701755"/>
          </a:xfrm>
          <a:prstGeom xmlns:a="http://schemas.openxmlformats.org/drawingml/2006/main" prst="rect">
            <a:avLst/>
          </a:prstGeom>
        </p:spPr>
      </p:pic>
      <p:sp>
        <p:nvSpPr>
          <p:cNvPr id="13" name="text-124">
            <a:extLst xmlns:a="http://schemas.openxmlformats.org/drawingml/2006/main">
              <a:ext uri="{FF2B5EF4-FFF2-40B4-BE49-F238E27FC236}">
                <a16:creationId xmlns:a16="http://schemas.microsoft.com/office/drawing/2014/main" id="{A9F8A803-2046-411A-8007-16A8DFC8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810250"/>
            <a:ext cx="2571750" cy="232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천궁-II 개발</a:t>
            </a:r>
          </a:p>
        </p:txBody>
      </p:sp>
      <p:sp>
        <p:nvSpPr>
          <p:cNvPr id="14" name="text-125">
            <a:extLst xmlns:a="http://schemas.openxmlformats.org/drawingml/2006/main">
              <a:ext uri="{FF2B5EF4-FFF2-40B4-BE49-F238E27FC236}">
                <a16:creationId xmlns:a16="http://schemas.microsoft.com/office/drawing/2014/main" id="{8026E0B9-912C-426C-B3BD-85D60A1B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042927"/>
            <a:ext cx="2571750" cy="232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477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2012 착수 ~ 2017 전투용 적합</a:t>
            </a:r>
          </a:p>
        </p:txBody>
      </p:sp>
      <p:sp>
        <p:nvSpPr>
          <p:cNvPr id="15" name="text-126">
            <a:extLst xmlns:a="http://schemas.openxmlformats.org/drawingml/2006/main">
              <a:ext uri="{FF2B5EF4-FFF2-40B4-BE49-F238E27FC236}">
                <a16:creationId xmlns:a16="http://schemas.microsoft.com/office/drawing/2014/main" id="{C654AD30-3125-46FE-81A6-9B235015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543675"/>
            <a:ext cx="2571750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442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약 5년</a:t>
            </a:r>
          </a:p>
        </p:txBody>
      </p:sp>
      <p:sp>
        <p:nvSpPr>
          <p:cNvPr id="16" name="text-127">
            <a:extLst xmlns:a="http://schemas.openxmlformats.org/drawingml/2006/main">
              <a:ext uri="{FF2B5EF4-FFF2-40B4-BE49-F238E27FC236}">
                <a16:creationId xmlns:a16="http://schemas.microsoft.com/office/drawing/2014/main" id="{D40D6244-ABBC-4ADC-A952-0342D96A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62000"/>
            <a:ext cx="400050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text-128">
            <a:extLst xmlns:a="http://schemas.openxmlformats.org/drawingml/2006/main">
              <a:ext uri="{FF2B5EF4-FFF2-40B4-BE49-F238E27FC236}">
                <a16:creationId xmlns:a16="http://schemas.microsoft.com/office/drawing/2014/main" id="{8BB920C2-DD70-41F4-8763-F380327D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762000"/>
            <a:ext cx="8620125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팀과 함께 이어 온 개발</a:t>
            </a:r>
          </a:p>
        </p:txBody>
      </p:sp>
      <p:sp>
        <p:nvSpPr>
          <p:cNvPr id="18" name="text-129">
            <a:extLst xmlns:a="http://schemas.openxmlformats.org/drawingml/2006/main">
              <a:ext uri="{FF2B5EF4-FFF2-40B4-BE49-F238E27FC236}">
                <a16:creationId xmlns:a16="http://schemas.microsoft.com/office/drawing/2014/main" id="{B2AA7D67-2C7E-4BE2-8511-C97A4230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66825"/>
            <a:ext cx="2781300" cy="271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2023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A11AA-6534-4CEE-B7EF-D334F258F0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1e41304124951"/>
          <a:stretch xmlns:a="http://schemas.openxmlformats.org/drawingml/2006/main"/>
        </p:blipFill>
        <p:spPr>
          <a:xfrm xmlns:a="http://schemas.openxmlformats.org/drawingml/2006/main">
            <a:off x="5715000" y="1612015"/>
            <a:ext cx="2781300" cy="1567045"/>
          </a:xfrm>
          <a:prstGeom xmlns:a="http://schemas.openxmlformats.org/drawingml/2006/main" prst="rect">
            <a:avLst/>
          </a:prstGeom>
        </p:spPr>
      </p:pic>
      <p:sp>
        <p:nvSpPr>
          <p:cNvPr id="20" name="text-130">
            <a:extLst xmlns:a="http://schemas.openxmlformats.org/drawingml/2006/main">
              <a:ext uri="{FF2B5EF4-FFF2-40B4-BE49-F238E27FC236}">
                <a16:creationId xmlns:a16="http://schemas.microsoft.com/office/drawing/2014/main" id="{9FF46AA5-1459-472E-85CE-61AB1E0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2781300" cy="22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소프트웨어학과 졸업작품 은상</a:t>
            </a:r>
          </a:p>
        </p:txBody>
      </p:sp>
      <p:sp>
        <p:nvSpPr>
          <p:cNvPr id="21" name="text-131">
            <a:extLst xmlns:a="http://schemas.openxmlformats.org/drawingml/2006/main">
              <a:ext uri="{FF2B5EF4-FFF2-40B4-BE49-F238E27FC236}">
                <a16:creationId xmlns:a16="http://schemas.microsoft.com/office/drawing/2014/main" id="{31BA182D-1748-453E-811A-54C36020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05225"/>
            <a:ext cx="27813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"지킬&amp;하이드&amp;시크"</a:t>
            </a:r>
          </a:p>
        </p:txBody>
      </p:sp>
      <p:sp>
        <p:nvSpPr>
          <p:cNvPr id="22" name="text-132">
            <a:extLst xmlns:a="http://schemas.openxmlformats.org/drawingml/2006/main">
              <a:ext uri="{FF2B5EF4-FFF2-40B4-BE49-F238E27FC236}">
                <a16:creationId xmlns:a16="http://schemas.microsoft.com/office/drawing/2014/main" id="{A027D333-812E-41D2-93FA-82016CA2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66825"/>
            <a:ext cx="2781300" cy="271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2025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5CB6D-1EE0-40EF-A02F-916F916F3A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1d0202f844691"/>
          <a:stretch xmlns:a="http://schemas.openxmlformats.org/drawingml/2006/main"/>
        </p:blipFill>
        <p:spPr>
          <a:xfrm xmlns:a="http://schemas.openxmlformats.org/drawingml/2006/main">
            <a:off x="8839250" y="1609725"/>
            <a:ext cx="2781200" cy="1571625"/>
          </a:xfrm>
          <a:prstGeom xmlns:a="http://schemas.openxmlformats.org/drawingml/2006/main" prst="rect">
            <a:avLst/>
          </a:prstGeom>
        </p:spPr>
      </p:pic>
      <p:sp>
        <p:nvSpPr>
          <p:cNvPr id="24" name="text-133">
            <a:extLst xmlns:a="http://schemas.openxmlformats.org/drawingml/2006/main">
              <a:ext uri="{FF2B5EF4-FFF2-40B4-BE49-F238E27FC236}">
                <a16:creationId xmlns:a16="http://schemas.microsoft.com/office/drawing/2014/main" id="{EF8B2C96-D505-47DE-B8D1-9FC42546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90900"/>
            <a:ext cx="2781300" cy="22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2025 G-STAR BTB관 전시작</a:t>
            </a:r>
          </a:p>
        </p:txBody>
      </p:sp>
      <p:sp>
        <p:nvSpPr>
          <p:cNvPr id="25" name="text-134">
            <a:extLst xmlns:a="http://schemas.openxmlformats.org/drawingml/2006/main">
              <a:ext uri="{FF2B5EF4-FFF2-40B4-BE49-F238E27FC236}">
                <a16:creationId xmlns:a16="http://schemas.microsoft.com/office/drawing/2014/main" id="{2E9D38A5-9FE8-4149-A86F-2F9D07D7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05225"/>
            <a:ext cx="27813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"노이 : 릴리스 11"</a:t>
            </a:r>
          </a:p>
        </p:txBody>
      </p:sp>
      <p:sp>
        <p:nvSpPr>
          <p:cNvPr id="26" name="text-135">
            <a:extLst xmlns:a="http://schemas.openxmlformats.org/drawingml/2006/main">
              <a:ext uri="{FF2B5EF4-FFF2-40B4-BE49-F238E27FC236}">
                <a16:creationId xmlns:a16="http://schemas.microsoft.com/office/drawing/2014/main" id="{00CE081D-2517-45C0-A2AA-C576DE6D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1266825"/>
            <a:ext cx="2781300" cy="271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4EF403-A2FF-480C-A2E6-C35497C07F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24bde7920479f"/>
          <a:stretch xmlns:a="http://schemas.openxmlformats.org/drawingml/2006/main"/>
        </p:blipFill>
        <p:spPr>
          <a:xfrm xmlns:a="http://schemas.openxmlformats.org/drawingml/2006/main">
            <a:off x="11963450" y="1609725"/>
            <a:ext cx="2781200" cy="1571625"/>
          </a:xfrm>
          <a:prstGeom xmlns:a="http://schemas.openxmlformats.org/drawingml/2006/main" prst="rect">
            <a:avLst/>
          </a:prstGeom>
        </p:spPr>
      </p:pic>
      <p:sp>
        <p:nvSpPr>
          <p:cNvPr id="28" name="text-136">
            <a:extLst xmlns:a="http://schemas.openxmlformats.org/drawingml/2006/main">
              <a:ext uri="{FF2B5EF4-FFF2-40B4-BE49-F238E27FC236}">
                <a16:creationId xmlns:a16="http://schemas.microsoft.com/office/drawing/2014/main" id="{EC4BCB24-C060-4F2E-A7B2-D44F50CC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390900"/>
            <a:ext cx="2781300" cy="22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448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게임벤처 4.0 선정</a:t>
            </a:r>
          </a:p>
        </p:txBody>
      </p:sp>
      <p:sp>
        <p:nvSpPr>
          <p:cNvPr id="29" name="text-137">
            <a:extLst xmlns:a="http://schemas.openxmlformats.org/drawingml/2006/main">
              <a:ext uri="{FF2B5EF4-FFF2-40B4-BE49-F238E27FC236}">
                <a16:creationId xmlns:a16="http://schemas.microsoft.com/office/drawing/2014/main" id="{813BE67D-0075-40CF-BB7F-506DBF1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705225"/>
            <a:ext cx="27813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"마더 그레이 : 노이"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4BDC66-644A-4761-A187-CBA67903BE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b5e7415ba4894"/>
          <a:stretch xmlns:a="http://schemas.openxmlformats.org/drawingml/2006/main"/>
        </p:blipFill>
        <p:spPr>
          <a:xfrm xmlns:a="http://schemas.openxmlformats.org/drawingml/2006/main">
            <a:off x="6924675" y="4115229"/>
            <a:ext cx="6334125" cy="570642"/>
          </a:xfrm>
          <a:prstGeom xmlns:a="http://schemas.openxmlformats.org/drawingml/2006/main" prst="rect">
            <a:avLst/>
          </a:prstGeom>
        </p:spPr>
      </p:pic>
      <p:sp>
        <p:nvSpPr>
          <p:cNvPr id="31" name="text-138">
            <a:extLst xmlns:a="http://schemas.openxmlformats.org/drawingml/2006/main">
              <a:ext uri="{FF2B5EF4-FFF2-40B4-BE49-F238E27FC236}">
                <a16:creationId xmlns:a16="http://schemas.microsoft.com/office/drawing/2014/main" id="{A293DA27-1713-4D53-832C-F5DAD3CD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400050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2" name="text-139">
            <a:extLst xmlns:a="http://schemas.openxmlformats.org/drawingml/2006/main">
              <a:ext uri="{FF2B5EF4-FFF2-40B4-BE49-F238E27FC236}">
                <a16:creationId xmlns:a16="http://schemas.microsoft.com/office/drawing/2014/main" id="{4857EAEE-58BB-4129-8F54-9CE3030B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010150"/>
            <a:ext cx="8620125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피드백과 프로젝트 피벗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3BD765-C550-422A-93E6-337065F767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a66d6aa794fad"/>
          <a:stretch xmlns:a="http://schemas.openxmlformats.org/drawingml/2006/main"/>
        </p:blipFill>
        <p:spPr>
          <a:xfrm xmlns:a="http://schemas.openxmlformats.org/drawingml/2006/main">
            <a:off x="5715000" y="5536460"/>
            <a:ext cx="2533650" cy="2519254"/>
          </a:xfrm>
          <a:prstGeom xmlns:a="http://schemas.openxmlformats.org/drawingml/2006/main" prst="rect">
            <a:avLst/>
          </a:prstGeom>
        </p:spPr>
      </p:pic>
      <p:sp>
        <p:nvSpPr>
          <p:cNvPr id="34" name="text-140">
            <a:extLst xmlns:a="http://schemas.openxmlformats.org/drawingml/2006/main">
              <a:ext uri="{FF2B5EF4-FFF2-40B4-BE49-F238E27FC236}">
                <a16:creationId xmlns:a16="http://schemas.microsoft.com/office/drawing/2014/main" id="{1F7C962B-DBA2-4697-A6D7-9587A366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62600"/>
            <a:ext cx="61722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G-STAR 미팅</a:t>
            </a:r>
          </a:p>
        </p:txBody>
      </p:sp>
      <p:sp>
        <p:nvSpPr>
          <p:cNvPr id="35" name="surface-141">
            <a:extLst xmlns:a="http://schemas.openxmlformats.org/drawingml/2006/main">
              <a:ext uri="{FF2B5EF4-FFF2-40B4-BE49-F238E27FC236}">
                <a16:creationId xmlns:a16="http://schemas.microsoft.com/office/drawing/2014/main" id="{AFA6556E-CABD-4A0F-BB13-BCC224E0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76925"/>
            <a:ext cx="617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36" name="gstar-body">
            <a:extLst xmlns:a="http://schemas.openxmlformats.org/drawingml/2006/main">
              <a:ext uri="{FF2B5EF4-FFF2-40B4-BE49-F238E27FC236}">
                <a16:creationId xmlns:a16="http://schemas.microsoft.com/office/drawing/2014/main" id="{DE32D350-DA17-4E5E-BBCD-71EC6D07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57900"/>
            <a:ext cx="6172200" cy="210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퍼블리셔·서드파티·개발사 등의 총 25개 사와 미팅(일부 영어) 진행</a:t>
            </a:r>
          </a:p>
        </p:txBody>
      </p:sp>
      <p:sp>
        <p:nvSpPr>
          <p:cNvPr id="37" name="gstar-body">
            <a:extLst xmlns:a="http://schemas.openxmlformats.org/drawingml/2006/main">
              <a:ext uri="{FF2B5EF4-FFF2-40B4-BE49-F238E27FC236}">
                <a16:creationId xmlns:a16="http://schemas.microsoft.com/office/drawing/2014/main" id="{7E32D9AB-1933-45F7-BB91-57111E54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68136"/>
            <a:ext cx="6172200" cy="210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PVP 운영·서비스 부담을 확인</a:t>
            </a:r>
          </a:p>
        </p:txBody>
      </p:sp>
      <p:sp>
        <p:nvSpPr>
          <p:cNvPr id="38" name="text-142">
            <a:extLst xmlns:a="http://schemas.openxmlformats.org/drawingml/2006/main">
              <a:ext uri="{FF2B5EF4-FFF2-40B4-BE49-F238E27FC236}">
                <a16:creationId xmlns:a16="http://schemas.microsoft.com/office/drawing/2014/main" id="{048D4078-0594-41EB-8769-8071A338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848475"/>
            <a:ext cx="61722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프로젝트 피벗</a:t>
            </a:r>
          </a:p>
        </p:txBody>
      </p:sp>
      <p:sp>
        <p:nvSpPr>
          <p:cNvPr id="39" name="surface-143">
            <a:extLst xmlns:a="http://schemas.openxmlformats.org/drawingml/2006/main">
              <a:ext uri="{FF2B5EF4-FFF2-40B4-BE49-F238E27FC236}">
                <a16:creationId xmlns:a16="http://schemas.microsoft.com/office/drawing/2014/main" id="{80B508B7-4F2F-43A6-81F3-B44E2BD2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153275"/>
            <a:ext cx="617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</p:sp>
      <p:sp>
        <p:nvSpPr>
          <p:cNvPr id="40" name="pivot-body">
            <a:extLst xmlns:a="http://schemas.openxmlformats.org/drawingml/2006/main">
              <a:ext uri="{FF2B5EF4-FFF2-40B4-BE49-F238E27FC236}">
                <a16:creationId xmlns:a16="http://schemas.microsoft.com/office/drawing/2014/main" id="{8D90538F-66F8-4AF7-8627-B235DD78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334250"/>
            <a:ext cx="6172200" cy="210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운영 부담과 팀의 IP 유지 요구를 함께 검토, IP 보존의 싱글플레이 전환에 합의</a:t>
            </a:r>
          </a:p>
        </p:txBody>
      </p:sp>
      <p:sp>
        <p:nvSpPr>
          <p:cNvPr id="41" name="pivot-body">
            <a:extLst xmlns:a="http://schemas.openxmlformats.org/drawingml/2006/main">
              <a:ext uri="{FF2B5EF4-FFF2-40B4-BE49-F238E27FC236}">
                <a16:creationId xmlns:a16="http://schemas.microsoft.com/office/drawing/2014/main" id="{4AAB9A89-0548-43F8-B89C-9358C05D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544486"/>
            <a:ext cx="6172200" cy="210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335" b="0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합의한 기획을 바탕으로 후속 PVE 게임 버티컬 슬라이스 개발</a:t>
            </a:r>
          </a:p>
        </p:txBody>
      </p:sp>
      <p:sp>
        <p:nvSpPr>
          <p:cNvPr id="42" name="surface-144">
            <a:extLst xmlns:a="http://schemas.openxmlformats.org/drawingml/2006/main">
              <a:ext uri="{FF2B5EF4-FFF2-40B4-BE49-F238E27FC236}">
                <a16:creationId xmlns:a16="http://schemas.microsoft.com/office/drawing/2014/main" id="{C36EA30E-7BC3-4B66-8437-59298B01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0">
            <a:noFill/>
          </a:ln>
        </p:spPr>
      </p:sp>
      <p:sp>
        <p:nvSpPr>
          <p:cNvPr id="43" name="surface-145">
            <a:extLst xmlns:a="http://schemas.openxmlformats.org/drawingml/2006/main">
              <a:ext uri="{FF2B5EF4-FFF2-40B4-BE49-F238E27FC236}">
                <a16:creationId xmlns:a16="http://schemas.microsoft.com/office/drawing/2014/main" id="{0DB663F3-6250-458B-BAE7-5C515ADC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01025"/>
            <a:ext cx="28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5F"/>
          </a:solidFill>
          <a:ln xmlns:a="http://schemas.openxmlformats.org/drawingml/2006/main" w="0">
            <a:noFill/>
          </a:ln>
        </p:spPr>
      </p:sp>
      <p:sp>
        <p:nvSpPr>
          <p:cNvPr id="44" name="text-146">
            <a:extLst xmlns:a="http://schemas.openxmlformats.org/drawingml/2006/main">
              <a:ext uri="{FF2B5EF4-FFF2-40B4-BE49-F238E27FC236}">
                <a16:creationId xmlns:a16="http://schemas.microsoft.com/office/drawing/2014/main" id="{0E9B03B3-1D4A-48D6-9BB5-DFFCF965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0"/>
            <a:ext cx="476250" cy="22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7385F"/>
                </a:solidFill>
                <a:latin typeface="Pretendard"/>
                <a:ea typeface="Pretendard"/>
                <a:cs typeface="Pretendard"/>
              </a:rPr>
              <a:t>기여</a:t>
            </a:r>
          </a:p>
        </p:txBody>
      </p:sp>
      <p:sp>
        <p:nvSpPr>
          <p:cNvPr id="45" name="text-147">
            <a:extLst xmlns:a="http://schemas.openxmlformats.org/drawingml/2006/main">
              <a:ext uri="{FF2B5EF4-FFF2-40B4-BE49-F238E27FC236}">
                <a16:creationId xmlns:a16="http://schemas.microsoft.com/office/drawing/2014/main" id="{094DD7C8-02CC-4A51-8D65-8BAE68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8191500"/>
            <a:ext cx="13620750" cy="22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52536"/>
                </a:solidFill>
                <a:latin typeface="Pretendard"/>
                <a:ea typeface="Pretendard"/>
                <a:cs typeface="Pretendard"/>
              </a:rPr>
              <a:t>장기 개발에서도 팀과 변경을 조율하며, 맡은 SW의 구현과 검증을 끝까지 이어나가는 개발자</a:t>
            </a:r>
          </a:p>
        </p:txBody>
      </p:sp>
    </p:spTree>
    <p:extLst>
      <p:ext uri="{BB962C8B-B14F-4D97-AF65-F5344CB8AC3E}">
        <p14:creationId xmlns:p14="http://schemas.microsoft.com/office/powerpoint/2010/main" val="675615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2026-10-23T00:10:13.9260000Z</dcterms:created>
  <dcterms:modified xsi:type="dcterms:W3CDTF">2026-10-23T00:10:13.9260000Z</dcterms:modified>
</coreProperties>
</file>